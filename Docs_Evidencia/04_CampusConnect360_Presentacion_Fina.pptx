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6" autoAdjust="0"/>
    <p:restoredTop sz="94610"/>
  </p:normalViewPr>
  <p:slideViewPr>
    <p:cSldViewPr snapToGrid="0" snapToObjects="1">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6458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Esta presentación está organizada para responder directamente a la rúbrica: primero el problema, después la solución propuesta, luego la justificación, metodología, implementación, pruebas y cierre. La idea no es solo describir tecnologías, sino demostrar por qué la arquitectura resuelve el problema planteado.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debo ser claro: no digo que el problema sea “necesitamos microservicios”. El problema real es operativo y arquitectónico: cuando todo está acoplado, es más difícil crecer, desplegar cambios y mantener disponibilidad. La pregunta central de la defensa es cómo diseñar un sistema que permita crecer sin rediseño completo.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me ayuda a cumplir la parte de evaluación y justificación. Debo decir que no se eligieron microservicios porque suene moderno, sino porque las alternativas tienen límites frente al problema. La solución elegida aporta independencia por dominio, pero también reconozco su costo: más complejidad y consistencia eventual.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central. Debo explicar el flujo de izquierda a derecha: el usuario entra al frontend, Kong centraliza el acceso, cada microservicio procesa su dominio, cada uno guarda en su base PostgreSQL y RabbitMQ distribuye eventos. La clave es explicar que no es una suma de herramientas, sino una arquitectura integrada.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debo leer todos los patrones como una lista. Debo agruparlos: Kong resuelve la entrada, Database per Service resuelve aislamiento de datos, RabbitMQ resuelve comunicación asíncrona, CQRS resuelve lectura consolidada, idempotencia y DLQ resuelven confiabilidad. Si me preguntan cuáles fueron realizados, nombro estos nueve y doy un ejemplo real.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demostración debo evitar perderme. El orden más fuerte es: crear estudiante, confirmar pago, mostrar reacción en Academic, Notifications y Analytics. Esta secuencia prueba integración, patrones y funcionamiento. Si algo falla, explico el flujo con logs o con el dashboard, no me quedo reparando en vivo.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responde al criterio del plan de trabajo. Debo decir que se trabajó de forma incremental: primero infraestructura, luego servicios, luego eventos, luego dashboard y validación. Esto demuestra metodología ágil aplicada, con entregables técnicos y verificables.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explico qué se implementó realmente. No debo quedarme solo en conceptos: menciono frontend, gateway, cinco servicios, bases independientes, eventos y Docker Compose. Si el jurado pregunta dónde se evidencia, respondo que puede verificarse con la ejecución local, Swagger, RabbitMQ, logs y el dashboard.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cumplir el criterio de pruebas debo hablar de evidencia, no solo decir “funciona”. El flujo debe comprobarse de extremo a extremo. Si no tengo pruebas automatizadas exhaustivas, debo ser honesto: se realizaron validaciones funcionales y de integración; como mejora futura se ampliarán pruebas automatizadas de contrato, carga y resiliencia.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debe sonar maduro. Reconozco limitaciones y trade-offs. No debo prometer métricas que no fueron medidas. La frase final debe conectar con el problema inicial: frente a sistemas monolíticos difíciles de escalar, CampusConnect 360 propone una arquitectura por dominios, integrada con APIs y eventos, validada mediante una demo funcional.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625"/>
        </a:solidFill>
        <a:effectLst/>
      </p:bgPr>
    </p:bg>
    <p:spTree>
      <p:nvGrpSpPr>
        <p:cNvPr id="1" name=""/>
        <p:cNvGrpSpPr/>
        <p:nvPr/>
      </p:nvGrpSpPr>
      <p:grpSpPr>
        <a:xfrm>
          <a:off x="0" y="0"/>
          <a:ext cx="0" cy="0"/>
          <a:chOff x="0" y="0"/>
          <a:chExt cx="0" cy="0"/>
        </a:xfrm>
      </p:grpSpPr>
      <p:sp>
        <p:nvSpPr>
          <p:cNvPr id="3" name="Shape 1"/>
          <p:cNvSpPr/>
          <p:nvPr/>
        </p:nvSpPr>
        <p:spPr>
          <a:xfrm>
            <a:off x="0" y="0"/>
            <a:ext cx="12191695" cy="1133856"/>
          </a:xfrm>
          <a:prstGeom prst="rect">
            <a:avLst/>
          </a:prstGeom>
          <a:solidFill>
            <a:srgbClr val="15103E"/>
          </a:solidFill>
          <a:ln w="12700">
            <a:solidFill>
              <a:srgbClr val="15103E"/>
            </a:solidFill>
            <a:prstDash val="solid"/>
          </a:ln>
        </p:spPr>
        <p:txBody>
          <a:bodyPr/>
          <a:lstStyle/>
          <a:p>
            <a:endParaRPr lang="es-ES"/>
          </a:p>
        </p:txBody>
      </p:sp>
      <p:sp>
        <p:nvSpPr>
          <p:cNvPr id="4" name="Shape 2"/>
          <p:cNvSpPr/>
          <p:nvPr/>
        </p:nvSpPr>
        <p:spPr>
          <a:xfrm>
            <a:off x="8275320" y="164592"/>
            <a:ext cx="3611880" cy="3611880"/>
          </a:xfrm>
          <a:prstGeom prst="arc">
            <a:avLst/>
          </a:prstGeom>
          <a:solidFill>
            <a:srgbClr val="090625">
              <a:alpha val="0"/>
            </a:srgbClr>
          </a:solidFill>
          <a:ln w="25400">
            <a:solidFill>
              <a:srgbClr val="7C3AED">
                <a:alpha val="45000"/>
              </a:srgbClr>
            </a:solidFill>
            <a:prstDash val="solid"/>
          </a:ln>
        </p:spPr>
        <p:txBody>
          <a:bodyPr/>
          <a:lstStyle/>
          <a:p>
            <a:endParaRPr lang="es-ES"/>
          </a:p>
        </p:txBody>
      </p:sp>
      <p:sp>
        <p:nvSpPr>
          <p:cNvPr id="5" name="Text 3"/>
          <p:cNvSpPr/>
          <p:nvPr/>
        </p:nvSpPr>
        <p:spPr>
          <a:xfrm>
            <a:off x="640080" y="1901952"/>
            <a:ext cx="6949440" cy="566928"/>
          </a:xfrm>
          <a:prstGeom prst="rect">
            <a:avLst/>
          </a:prstGeom>
          <a:noFill/>
          <a:ln/>
        </p:spPr>
        <p:txBody>
          <a:bodyPr wrap="square" lIns="0" tIns="0" rIns="0" bIns="0" rtlCol="0" anchor="ctr"/>
          <a:lstStyle/>
          <a:p>
            <a:pPr marL="0" indent="0">
              <a:buNone/>
            </a:pPr>
            <a:r>
              <a:rPr lang="en-US" sz="4000" b="1" dirty="0">
                <a:solidFill>
                  <a:srgbClr val="FFFFFF"/>
                </a:solidFill>
                <a:latin typeface="Aptos Display" pitchFamily="34" charset="0"/>
                <a:ea typeface="Aptos Display" pitchFamily="34" charset="-122"/>
                <a:cs typeface="Aptos Display" pitchFamily="34" charset="-120"/>
              </a:rPr>
              <a:t>CampusConnect 360</a:t>
            </a:r>
            <a:endParaRPr lang="en-US" sz="4000" dirty="0"/>
          </a:p>
        </p:txBody>
      </p:sp>
      <p:sp>
        <p:nvSpPr>
          <p:cNvPr id="7" name="Text 5"/>
          <p:cNvSpPr/>
          <p:nvPr/>
        </p:nvSpPr>
        <p:spPr>
          <a:xfrm>
            <a:off x="658368" y="3154680"/>
            <a:ext cx="7498080" cy="329184"/>
          </a:xfrm>
          <a:prstGeom prst="rect">
            <a:avLst/>
          </a:prstGeom>
          <a:noFill/>
          <a:ln/>
        </p:spPr>
        <p:txBody>
          <a:bodyPr wrap="square" lIns="0" tIns="0" rIns="0" bIns="0" rtlCol="0" anchor="ctr"/>
          <a:lstStyle/>
          <a:p>
            <a:pPr marL="0" indent="0">
              <a:buNone/>
            </a:pPr>
            <a:r>
              <a:rPr lang="en-US" sz="1600" dirty="0">
                <a:solidFill>
                  <a:srgbClr val="A9A3D7"/>
                </a:solidFill>
              </a:rPr>
              <a:t>Problema → evaluación de alternativas → arquitectura → implementación → validación</a:t>
            </a:r>
            <a:endParaRPr lang="en-US" sz="1600" dirty="0"/>
          </a:p>
        </p:txBody>
      </p:sp>
      <p:sp>
        <p:nvSpPr>
          <p:cNvPr id="8" name="Shape 6"/>
          <p:cNvSpPr/>
          <p:nvPr/>
        </p:nvSpPr>
        <p:spPr>
          <a:xfrm>
            <a:off x="713232" y="4251960"/>
            <a:ext cx="438912" cy="438912"/>
          </a:xfrm>
          <a:prstGeom prst="ellipse">
            <a:avLst/>
          </a:prstGeom>
          <a:solidFill>
            <a:srgbClr val="7C3AED"/>
          </a:solidFill>
          <a:ln w="12700">
            <a:solidFill>
              <a:srgbClr val="22D3EE">
                <a:alpha val="80000"/>
              </a:srgbClr>
            </a:solidFill>
            <a:prstDash val="solid"/>
          </a:ln>
        </p:spPr>
        <p:txBody>
          <a:bodyPr/>
          <a:lstStyle/>
          <a:p>
            <a:endParaRPr lang="es-ES" sz="1600"/>
          </a:p>
        </p:txBody>
      </p:sp>
      <p:sp>
        <p:nvSpPr>
          <p:cNvPr id="9" name="Text 7"/>
          <p:cNvSpPr/>
          <p:nvPr/>
        </p:nvSpPr>
        <p:spPr>
          <a:xfrm>
            <a:off x="713232" y="4379976"/>
            <a:ext cx="438912" cy="146304"/>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0" name="Text 8"/>
          <p:cNvSpPr/>
          <p:nvPr/>
        </p:nvSpPr>
        <p:spPr>
          <a:xfrm>
            <a:off x="393192" y="4800600"/>
            <a:ext cx="1097280" cy="182880"/>
          </a:xfrm>
          <a:prstGeom prst="rect">
            <a:avLst/>
          </a:prstGeom>
          <a:noFill/>
          <a:ln/>
        </p:spPr>
        <p:txBody>
          <a:bodyPr wrap="square" lIns="0" tIns="0" rIns="0" bIns="0" rtlCol="0" anchor="ctr"/>
          <a:lstStyle/>
          <a:p>
            <a:pPr marL="0" indent="0" algn="ctr">
              <a:buNone/>
            </a:pPr>
            <a:r>
              <a:rPr lang="en-US" sz="1600" b="1" dirty="0">
                <a:solidFill>
                  <a:srgbClr val="D8D5FF"/>
                </a:solidFill>
              </a:rPr>
              <a:t>Problema</a:t>
            </a:r>
            <a:endParaRPr lang="en-US" sz="1600" dirty="0"/>
          </a:p>
        </p:txBody>
      </p:sp>
      <p:sp>
        <p:nvSpPr>
          <p:cNvPr id="11" name="Shape 9"/>
          <p:cNvSpPr/>
          <p:nvPr/>
        </p:nvSpPr>
        <p:spPr>
          <a:xfrm>
            <a:off x="1197864" y="4471416"/>
            <a:ext cx="1325880" cy="0"/>
          </a:xfrm>
          <a:prstGeom prst="line">
            <a:avLst/>
          </a:prstGeom>
          <a:noFill/>
          <a:ln w="19050">
            <a:solidFill>
              <a:srgbClr val="5045A8"/>
            </a:solidFill>
            <a:prstDash val="solid"/>
            <a:headEnd type="none"/>
            <a:tailEnd type="triangle"/>
          </a:ln>
        </p:spPr>
        <p:txBody>
          <a:bodyPr/>
          <a:lstStyle/>
          <a:p>
            <a:endParaRPr lang="es-ES" sz="1600"/>
          </a:p>
        </p:txBody>
      </p:sp>
      <p:sp>
        <p:nvSpPr>
          <p:cNvPr id="12" name="Shape 10"/>
          <p:cNvSpPr/>
          <p:nvPr/>
        </p:nvSpPr>
        <p:spPr>
          <a:xfrm>
            <a:off x="2615184" y="4251960"/>
            <a:ext cx="438912" cy="438912"/>
          </a:xfrm>
          <a:prstGeom prst="ellipse">
            <a:avLst/>
          </a:prstGeom>
          <a:solidFill>
            <a:srgbClr val="7C3AED"/>
          </a:solidFill>
          <a:ln w="12700">
            <a:solidFill>
              <a:srgbClr val="22D3EE">
                <a:alpha val="80000"/>
              </a:srgbClr>
            </a:solidFill>
            <a:prstDash val="solid"/>
          </a:ln>
        </p:spPr>
        <p:txBody>
          <a:bodyPr/>
          <a:lstStyle/>
          <a:p>
            <a:endParaRPr lang="es-ES" sz="1600"/>
          </a:p>
        </p:txBody>
      </p:sp>
      <p:sp>
        <p:nvSpPr>
          <p:cNvPr id="13" name="Text 11"/>
          <p:cNvSpPr/>
          <p:nvPr/>
        </p:nvSpPr>
        <p:spPr>
          <a:xfrm>
            <a:off x="2615184" y="4379976"/>
            <a:ext cx="438912" cy="146304"/>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4" name="Text 12"/>
          <p:cNvSpPr/>
          <p:nvPr/>
        </p:nvSpPr>
        <p:spPr>
          <a:xfrm>
            <a:off x="2295144" y="4800600"/>
            <a:ext cx="1097280" cy="182880"/>
          </a:xfrm>
          <a:prstGeom prst="rect">
            <a:avLst/>
          </a:prstGeom>
          <a:noFill/>
          <a:ln/>
        </p:spPr>
        <p:txBody>
          <a:bodyPr wrap="square" lIns="0" tIns="0" rIns="0" bIns="0" rtlCol="0" anchor="ctr"/>
          <a:lstStyle/>
          <a:p>
            <a:pPr marL="0" indent="0" algn="ctr">
              <a:buNone/>
            </a:pPr>
            <a:r>
              <a:rPr lang="en-US" sz="1600" b="1" dirty="0">
                <a:solidFill>
                  <a:srgbClr val="D8D5FF"/>
                </a:solidFill>
              </a:rPr>
              <a:t>Solución</a:t>
            </a:r>
            <a:endParaRPr lang="en-US" sz="1600" dirty="0"/>
          </a:p>
        </p:txBody>
      </p:sp>
      <p:sp>
        <p:nvSpPr>
          <p:cNvPr id="15" name="Shape 13"/>
          <p:cNvSpPr/>
          <p:nvPr/>
        </p:nvSpPr>
        <p:spPr>
          <a:xfrm>
            <a:off x="3099816" y="4471416"/>
            <a:ext cx="1325880" cy="0"/>
          </a:xfrm>
          <a:prstGeom prst="line">
            <a:avLst/>
          </a:prstGeom>
          <a:noFill/>
          <a:ln w="19050">
            <a:solidFill>
              <a:srgbClr val="5045A8"/>
            </a:solidFill>
            <a:prstDash val="solid"/>
            <a:headEnd type="none"/>
            <a:tailEnd type="triangle"/>
          </a:ln>
        </p:spPr>
        <p:txBody>
          <a:bodyPr/>
          <a:lstStyle/>
          <a:p>
            <a:endParaRPr lang="es-ES" sz="1600"/>
          </a:p>
        </p:txBody>
      </p:sp>
      <p:sp>
        <p:nvSpPr>
          <p:cNvPr id="16" name="Shape 14"/>
          <p:cNvSpPr/>
          <p:nvPr/>
        </p:nvSpPr>
        <p:spPr>
          <a:xfrm>
            <a:off x="4517136" y="4251960"/>
            <a:ext cx="438912" cy="438912"/>
          </a:xfrm>
          <a:prstGeom prst="ellipse">
            <a:avLst/>
          </a:prstGeom>
          <a:solidFill>
            <a:srgbClr val="21175F"/>
          </a:solidFill>
          <a:ln w="12700">
            <a:solidFill>
              <a:srgbClr val="22D3EE">
                <a:alpha val="80000"/>
              </a:srgbClr>
            </a:solidFill>
            <a:prstDash val="solid"/>
          </a:ln>
        </p:spPr>
        <p:txBody>
          <a:bodyPr/>
          <a:lstStyle/>
          <a:p>
            <a:endParaRPr lang="es-ES" sz="1600"/>
          </a:p>
        </p:txBody>
      </p:sp>
      <p:sp>
        <p:nvSpPr>
          <p:cNvPr id="17" name="Text 15"/>
          <p:cNvSpPr/>
          <p:nvPr/>
        </p:nvSpPr>
        <p:spPr>
          <a:xfrm>
            <a:off x="4517136" y="4379976"/>
            <a:ext cx="438912" cy="146304"/>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8" name="Text 16"/>
          <p:cNvSpPr/>
          <p:nvPr/>
        </p:nvSpPr>
        <p:spPr>
          <a:xfrm>
            <a:off x="4197096" y="4800600"/>
            <a:ext cx="1097280" cy="182880"/>
          </a:xfrm>
          <a:prstGeom prst="rect">
            <a:avLst/>
          </a:prstGeom>
          <a:noFill/>
          <a:ln/>
        </p:spPr>
        <p:txBody>
          <a:bodyPr wrap="square" lIns="0" tIns="0" rIns="0" bIns="0" rtlCol="0" anchor="ctr"/>
          <a:lstStyle/>
          <a:p>
            <a:pPr marL="0" indent="0" algn="ctr">
              <a:buNone/>
            </a:pPr>
            <a:r>
              <a:rPr lang="en-US" sz="1600" b="1" dirty="0">
                <a:solidFill>
                  <a:srgbClr val="D8D5FF"/>
                </a:solidFill>
              </a:rPr>
              <a:t>Patrones</a:t>
            </a:r>
            <a:endParaRPr lang="en-US" sz="1600" dirty="0"/>
          </a:p>
        </p:txBody>
      </p:sp>
      <p:sp>
        <p:nvSpPr>
          <p:cNvPr id="19" name="Shape 17"/>
          <p:cNvSpPr/>
          <p:nvPr/>
        </p:nvSpPr>
        <p:spPr>
          <a:xfrm>
            <a:off x="5001768" y="4471416"/>
            <a:ext cx="1325880" cy="0"/>
          </a:xfrm>
          <a:prstGeom prst="line">
            <a:avLst/>
          </a:prstGeom>
          <a:noFill/>
          <a:ln w="19050">
            <a:solidFill>
              <a:srgbClr val="5045A8"/>
            </a:solidFill>
            <a:prstDash val="solid"/>
            <a:headEnd type="none"/>
            <a:tailEnd type="triangle"/>
          </a:ln>
        </p:spPr>
        <p:txBody>
          <a:bodyPr/>
          <a:lstStyle/>
          <a:p>
            <a:endParaRPr lang="es-ES" sz="1600"/>
          </a:p>
        </p:txBody>
      </p:sp>
      <p:sp>
        <p:nvSpPr>
          <p:cNvPr id="20" name="Shape 18"/>
          <p:cNvSpPr/>
          <p:nvPr/>
        </p:nvSpPr>
        <p:spPr>
          <a:xfrm>
            <a:off x="6419088" y="4251960"/>
            <a:ext cx="438912" cy="438912"/>
          </a:xfrm>
          <a:prstGeom prst="ellipse">
            <a:avLst/>
          </a:prstGeom>
          <a:solidFill>
            <a:srgbClr val="21175F"/>
          </a:solidFill>
          <a:ln w="12700">
            <a:solidFill>
              <a:srgbClr val="22D3EE">
                <a:alpha val="80000"/>
              </a:srgbClr>
            </a:solidFill>
            <a:prstDash val="solid"/>
          </a:ln>
        </p:spPr>
        <p:txBody>
          <a:bodyPr/>
          <a:lstStyle/>
          <a:p>
            <a:endParaRPr lang="es-ES" sz="1600"/>
          </a:p>
        </p:txBody>
      </p:sp>
      <p:sp>
        <p:nvSpPr>
          <p:cNvPr id="21" name="Text 19"/>
          <p:cNvSpPr/>
          <p:nvPr/>
        </p:nvSpPr>
        <p:spPr>
          <a:xfrm>
            <a:off x="6419088" y="4379976"/>
            <a:ext cx="438912" cy="146304"/>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2" name="Text 20"/>
          <p:cNvSpPr/>
          <p:nvPr/>
        </p:nvSpPr>
        <p:spPr>
          <a:xfrm>
            <a:off x="6099048" y="4800600"/>
            <a:ext cx="1097280" cy="182880"/>
          </a:xfrm>
          <a:prstGeom prst="rect">
            <a:avLst/>
          </a:prstGeom>
          <a:noFill/>
          <a:ln/>
        </p:spPr>
        <p:txBody>
          <a:bodyPr wrap="square" lIns="0" tIns="0" rIns="0" bIns="0" rtlCol="0" anchor="ctr"/>
          <a:lstStyle/>
          <a:p>
            <a:pPr marL="0" indent="0" algn="ctr">
              <a:buNone/>
            </a:pPr>
            <a:r>
              <a:rPr lang="en-US" sz="1600" b="1" dirty="0">
                <a:solidFill>
                  <a:srgbClr val="D8D5FF"/>
                </a:solidFill>
              </a:rPr>
              <a:t>Pruebas</a:t>
            </a:r>
            <a:endParaRPr lang="en-US" sz="1600" dirty="0"/>
          </a:p>
        </p:txBody>
      </p:sp>
      <p:sp>
        <p:nvSpPr>
          <p:cNvPr id="23" name="Shape 21"/>
          <p:cNvSpPr/>
          <p:nvPr/>
        </p:nvSpPr>
        <p:spPr>
          <a:xfrm>
            <a:off x="6903720" y="4471416"/>
            <a:ext cx="1325880" cy="0"/>
          </a:xfrm>
          <a:prstGeom prst="line">
            <a:avLst/>
          </a:prstGeom>
          <a:noFill/>
          <a:ln w="19050">
            <a:solidFill>
              <a:srgbClr val="5045A8"/>
            </a:solidFill>
            <a:prstDash val="solid"/>
            <a:headEnd type="none"/>
            <a:tailEnd type="triangle"/>
          </a:ln>
        </p:spPr>
        <p:txBody>
          <a:bodyPr/>
          <a:lstStyle/>
          <a:p>
            <a:endParaRPr lang="es-ES" sz="1600"/>
          </a:p>
        </p:txBody>
      </p:sp>
      <p:sp>
        <p:nvSpPr>
          <p:cNvPr id="24" name="Shape 22"/>
          <p:cNvSpPr/>
          <p:nvPr/>
        </p:nvSpPr>
        <p:spPr>
          <a:xfrm>
            <a:off x="8321040" y="4251960"/>
            <a:ext cx="438912" cy="438912"/>
          </a:xfrm>
          <a:prstGeom prst="ellipse">
            <a:avLst/>
          </a:prstGeom>
          <a:solidFill>
            <a:srgbClr val="21175F"/>
          </a:solidFill>
          <a:ln w="12700">
            <a:solidFill>
              <a:srgbClr val="22D3EE">
                <a:alpha val="80000"/>
              </a:srgbClr>
            </a:solidFill>
            <a:prstDash val="solid"/>
          </a:ln>
        </p:spPr>
        <p:txBody>
          <a:bodyPr/>
          <a:lstStyle/>
          <a:p>
            <a:endParaRPr lang="es-ES" sz="1600"/>
          </a:p>
        </p:txBody>
      </p:sp>
      <p:sp>
        <p:nvSpPr>
          <p:cNvPr id="25" name="Text 23"/>
          <p:cNvSpPr/>
          <p:nvPr/>
        </p:nvSpPr>
        <p:spPr>
          <a:xfrm>
            <a:off x="8321040" y="4379976"/>
            <a:ext cx="438912" cy="146304"/>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6" name="Text 24"/>
          <p:cNvSpPr/>
          <p:nvPr/>
        </p:nvSpPr>
        <p:spPr>
          <a:xfrm>
            <a:off x="8001000" y="4800600"/>
            <a:ext cx="1097280" cy="182880"/>
          </a:xfrm>
          <a:prstGeom prst="rect">
            <a:avLst/>
          </a:prstGeom>
          <a:noFill/>
          <a:ln/>
        </p:spPr>
        <p:txBody>
          <a:bodyPr wrap="square" lIns="0" tIns="0" rIns="0" bIns="0" rtlCol="0" anchor="ctr"/>
          <a:lstStyle/>
          <a:p>
            <a:pPr marL="0" indent="0" algn="ctr">
              <a:buNone/>
            </a:pPr>
            <a:r>
              <a:rPr lang="en-US" sz="1600" b="1" dirty="0">
                <a:solidFill>
                  <a:srgbClr val="D8D5FF"/>
                </a:solidFill>
              </a:rPr>
              <a:t>Cierre</a:t>
            </a:r>
            <a:endParaRPr lang="en-US" sz="1600" dirty="0"/>
          </a:p>
        </p:txBody>
      </p:sp>
      <p:sp>
        <p:nvSpPr>
          <p:cNvPr id="27" name="Shape 25"/>
          <p:cNvSpPr/>
          <p:nvPr/>
        </p:nvSpPr>
        <p:spPr>
          <a:xfrm>
            <a:off x="8705088" y="1627632"/>
            <a:ext cx="2578608" cy="2331720"/>
          </a:xfrm>
          <a:prstGeom prst="roundRect">
            <a:avLst>
              <a:gd name="adj" fmla="val 3137"/>
            </a:avLst>
          </a:prstGeom>
          <a:solidFill>
            <a:srgbClr val="21175F"/>
          </a:solidFill>
          <a:ln w="12700">
            <a:solidFill>
              <a:srgbClr val="5045A8">
                <a:alpha val="95000"/>
              </a:srgbClr>
            </a:solidFill>
            <a:prstDash val="solid"/>
          </a:ln>
        </p:spPr>
        <p:txBody>
          <a:bodyPr/>
          <a:lstStyle/>
          <a:p>
            <a:endParaRPr lang="es-ES" sz="1600"/>
          </a:p>
        </p:txBody>
      </p:sp>
      <p:sp>
        <p:nvSpPr>
          <p:cNvPr id="28" name="Text 26"/>
          <p:cNvSpPr/>
          <p:nvPr/>
        </p:nvSpPr>
        <p:spPr>
          <a:xfrm>
            <a:off x="8906256" y="1828800"/>
            <a:ext cx="2176272"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Idea central</a:t>
            </a:r>
            <a:endParaRPr lang="en-US" sz="1600" dirty="0"/>
          </a:p>
        </p:txBody>
      </p:sp>
      <p:sp>
        <p:nvSpPr>
          <p:cNvPr id="29" name="Text 27"/>
          <p:cNvSpPr/>
          <p:nvPr/>
        </p:nvSpPr>
        <p:spPr>
          <a:xfrm>
            <a:off x="8906256" y="2231136"/>
            <a:ext cx="2176272" cy="1563624"/>
          </a:xfrm>
          <a:prstGeom prst="rect">
            <a:avLst/>
          </a:prstGeom>
          <a:noFill/>
          <a:ln/>
        </p:spPr>
        <p:txBody>
          <a:bodyPr wrap="square" lIns="254" tIns="254" rIns="254" bIns="254" rtlCol="0" anchor="t">
            <a:noAutofit/>
          </a:bodyPr>
          <a:lstStyle/>
          <a:p>
            <a:pPr marL="0" indent="0">
              <a:buNone/>
            </a:pPr>
            <a:r>
              <a:rPr lang="en-US" sz="1600" dirty="0">
                <a:solidFill>
                  <a:srgbClr val="D8D5FF"/>
                </a:solidFill>
              </a:rPr>
              <a:t>Integrar dominios educativos mediante APIs REST + eventos asíncronos, manteniendo servicios independientes y datos aislados.</a:t>
            </a:r>
            <a:endParaRPr lang="en-US" sz="1600" dirty="0"/>
          </a:p>
        </p:txBody>
      </p:sp>
      <p:sp>
        <p:nvSpPr>
          <p:cNvPr id="30" name="Text 28"/>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31" name="Text 29"/>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1. Problema identificado</a:t>
            </a:r>
            <a:endParaRPr lang="en-US" sz="2600"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sz="1080" dirty="0">
                <a:solidFill>
                  <a:srgbClr val="A9A3D7"/>
                </a:solidFill>
              </a:rPr>
              <a:t>Qué falla y por qué se justifica una arquitectura desacoplada</a:t>
            </a:r>
            <a:endParaRPr lang="en-US" sz="1080" dirty="0"/>
          </a:p>
        </p:txBody>
      </p:sp>
      <p:sp>
        <p:nvSpPr>
          <p:cNvPr id="6" name="Shape 4"/>
          <p:cNvSpPr/>
          <p:nvPr/>
        </p:nvSpPr>
        <p:spPr>
          <a:xfrm>
            <a:off x="9555480" y="402336"/>
            <a:ext cx="2103120" cy="384048"/>
          </a:xfrm>
          <a:prstGeom prst="roundRect">
            <a:avLst>
              <a:gd name="adj" fmla="val 19048"/>
            </a:avLst>
          </a:prstGeom>
          <a:solidFill>
            <a:srgbClr val="21175F">
              <a:alpha val="95000"/>
            </a:srgbClr>
          </a:solidFill>
          <a:ln w="12700">
            <a:solidFill>
              <a:srgbClr val="5045A8">
                <a:alpha val="90000"/>
              </a:srgbClr>
            </a:solidFill>
            <a:prstDash val="solid"/>
          </a:ln>
        </p:spPr>
        <p:txBody>
          <a:bodyPr/>
          <a:lstStyle/>
          <a:p>
            <a:endParaRPr lang="es-ES"/>
          </a:p>
        </p:txBody>
      </p:sp>
      <p:sp>
        <p:nvSpPr>
          <p:cNvPr id="7" name="Text 5"/>
          <p:cNvSpPr/>
          <p:nvPr/>
        </p:nvSpPr>
        <p:spPr>
          <a:xfrm>
            <a:off x="9674352" y="484632"/>
            <a:ext cx="1920240" cy="201168"/>
          </a:xfrm>
          <a:prstGeom prst="rect">
            <a:avLst/>
          </a:prstGeom>
          <a:noFill/>
          <a:ln/>
        </p:spPr>
        <p:txBody>
          <a:bodyPr wrap="square" lIns="0" tIns="0" rIns="0" bIns="0" rtlCol="0" anchor="ctr"/>
          <a:lstStyle/>
          <a:p>
            <a:pPr marL="0" indent="0">
              <a:buNone/>
            </a:pPr>
            <a:r>
              <a:rPr lang="en-US" sz="920" b="1" dirty="0">
                <a:solidFill>
                  <a:srgbClr val="D8D5FF"/>
                </a:solidFill>
              </a:rPr>
              <a:t>Criterio: Problema</a:t>
            </a:r>
            <a:endParaRPr lang="en-US" sz="920" dirty="0"/>
          </a:p>
        </p:txBody>
      </p:sp>
      <p:sp>
        <p:nvSpPr>
          <p:cNvPr id="8" name="Shape 6"/>
          <p:cNvSpPr/>
          <p:nvPr/>
        </p:nvSpPr>
        <p:spPr>
          <a:xfrm>
            <a:off x="594360" y="1325880"/>
            <a:ext cx="3200400" cy="4389120"/>
          </a:xfrm>
          <a:prstGeom prst="roundRect">
            <a:avLst>
              <a:gd name="adj" fmla="val 2286"/>
            </a:avLst>
          </a:prstGeom>
          <a:solidFill>
            <a:srgbClr val="21175F"/>
          </a:solidFill>
          <a:ln w="12700">
            <a:solidFill>
              <a:srgbClr val="5045A8">
                <a:alpha val="95000"/>
              </a:srgbClr>
            </a:solidFill>
            <a:prstDash val="solid"/>
          </a:ln>
        </p:spPr>
        <p:txBody>
          <a:bodyPr/>
          <a:lstStyle/>
          <a:p>
            <a:endParaRPr lang="es-ES"/>
          </a:p>
        </p:txBody>
      </p:sp>
      <p:sp>
        <p:nvSpPr>
          <p:cNvPr id="9" name="Text 7"/>
          <p:cNvSpPr/>
          <p:nvPr/>
        </p:nvSpPr>
        <p:spPr>
          <a:xfrm>
            <a:off x="795528" y="1527048"/>
            <a:ext cx="279806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Problema principal</a:t>
            </a:r>
            <a:endParaRPr lang="en-US" sz="1600" dirty="0"/>
          </a:p>
        </p:txBody>
      </p:sp>
      <p:sp>
        <p:nvSpPr>
          <p:cNvPr id="10" name="Text 8"/>
          <p:cNvSpPr/>
          <p:nvPr/>
        </p:nvSpPr>
        <p:spPr>
          <a:xfrm>
            <a:off x="795528" y="1929384"/>
            <a:ext cx="2798064" cy="3621024"/>
          </a:xfrm>
          <a:prstGeom prst="rect">
            <a:avLst/>
          </a:prstGeom>
          <a:noFill/>
          <a:ln/>
        </p:spPr>
        <p:txBody>
          <a:bodyPr wrap="square" lIns="254" tIns="254" rIns="254" bIns="254" rtlCol="0" anchor="t">
            <a:normAutofit/>
          </a:bodyPr>
          <a:lstStyle/>
          <a:p>
            <a:pPr marL="0" indent="0">
              <a:buNone/>
            </a:pPr>
            <a:r>
              <a:rPr lang="en-US" sz="2000" dirty="0">
                <a:solidFill>
                  <a:srgbClr val="D8D5FF"/>
                </a:solidFill>
              </a:rPr>
              <a:t>Los sistemas monolíticos heredados concentran demasiadas responsabilidades: académico, pagos, bienestar, notificaciones y reportes quedan fuertemente acoplados. Esto provoca que un cambio pequeño pueda afectar todo el sistema.</a:t>
            </a:r>
            <a:endParaRPr lang="en-US" sz="2000" dirty="0"/>
          </a:p>
        </p:txBody>
      </p:sp>
      <p:sp>
        <p:nvSpPr>
          <p:cNvPr id="11" name="Shape 9"/>
          <p:cNvSpPr/>
          <p:nvPr/>
        </p:nvSpPr>
        <p:spPr>
          <a:xfrm>
            <a:off x="4069080" y="1325880"/>
            <a:ext cx="3566160" cy="4389120"/>
          </a:xfrm>
          <a:prstGeom prst="roundRect">
            <a:avLst>
              <a:gd name="adj" fmla="val 2051"/>
            </a:avLst>
          </a:prstGeom>
          <a:solidFill>
            <a:srgbClr val="17124A"/>
          </a:solidFill>
          <a:ln w="12700">
            <a:solidFill>
              <a:srgbClr val="5045A8">
                <a:alpha val="95000"/>
              </a:srgbClr>
            </a:solidFill>
            <a:prstDash val="solid"/>
          </a:ln>
        </p:spPr>
        <p:txBody>
          <a:bodyPr/>
          <a:lstStyle/>
          <a:p>
            <a:endParaRPr lang="es-ES"/>
          </a:p>
        </p:txBody>
      </p:sp>
      <p:sp>
        <p:nvSpPr>
          <p:cNvPr id="12" name="Text 10"/>
          <p:cNvSpPr/>
          <p:nvPr/>
        </p:nvSpPr>
        <p:spPr>
          <a:xfrm>
            <a:off x="4270248" y="1527048"/>
            <a:ext cx="316382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Consecuencias operativas</a:t>
            </a:r>
            <a:endParaRPr lang="en-US" sz="1600" dirty="0"/>
          </a:p>
        </p:txBody>
      </p:sp>
      <p:sp>
        <p:nvSpPr>
          <p:cNvPr id="13" name="Text 11"/>
          <p:cNvSpPr/>
          <p:nvPr/>
        </p:nvSpPr>
        <p:spPr>
          <a:xfrm>
            <a:off x="4270248" y="1929384"/>
            <a:ext cx="3163824" cy="3621024"/>
          </a:xfrm>
          <a:prstGeom prst="rect">
            <a:avLst/>
          </a:prstGeom>
          <a:noFill/>
          <a:ln/>
        </p:spPr>
        <p:txBody>
          <a:bodyPr wrap="square" lIns="254" tIns="254" rIns="254" bIns="254" rtlCol="0" anchor="t">
            <a:normAutofit/>
          </a:bodyPr>
          <a:lstStyle/>
          <a:p>
            <a:pPr marL="0" indent="0">
              <a:buNone/>
            </a:pPr>
            <a:r>
              <a:rPr lang="en-US" sz="2000" dirty="0">
                <a:solidFill>
                  <a:srgbClr val="D8D5FF"/>
                </a:solidFill>
              </a:rPr>
              <a:t>• Despliegues lentos y riesgosos</a:t>
            </a:r>
            <a:endParaRPr lang="en-US" sz="2000" dirty="0"/>
          </a:p>
          <a:p>
            <a:pPr marL="0" indent="0">
              <a:buNone/>
            </a:pPr>
            <a:r>
              <a:rPr lang="en-US" sz="2000" dirty="0">
                <a:solidFill>
                  <a:srgbClr val="D8D5FF"/>
                </a:solidFill>
              </a:rPr>
              <a:t>• Dificultad para escalar solo un dominio</a:t>
            </a:r>
            <a:endParaRPr lang="en-US" sz="2000" dirty="0"/>
          </a:p>
          <a:p>
            <a:pPr marL="0" indent="0">
              <a:buNone/>
            </a:pPr>
            <a:r>
              <a:rPr lang="en-US" sz="2000" dirty="0">
                <a:solidFill>
                  <a:srgbClr val="D8D5FF"/>
                </a:solidFill>
              </a:rPr>
              <a:t>• Fallos en cascada</a:t>
            </a:r>
            <a:endParaRPr lang="en-US" sz="2000" dirty="0"/>
          </a:p>
          <a:p>
            <a:pPr marL="0" indent="0">
              <a:buNone/>
            </a:pPr>
            <a:r>
              <a:rPr lang="en-US" sz="2000" dirty="0">
                <a:solidFill>
                  <a:srgbClr val="D8D5FF"/>
                </a:solidFill>
              </a:rPr>
              <a:t>• Reportes consolidados costosos</a:t>
            </a:r>
            <a:endParaRPr lang="en-US" sz="2000" dirty="0"/>
          </a:p>
          <a:p>
            <a:pPr marL="0" indent="0">
              <a:buNone/>
            </a:pPr>
            <a:r>
              <a:rPr lang="en-US" sz="2000" dirty="0">
                <a:solidFill>
                  <a:srgbClr val="D8D5FF"/>
                </a:solidFill>
              </a:rPr>
              <a:t>• Mayor dependencia entre equipos</a:t>
            </a:r>
            <a:endParaRPr lang="en-US" sz="2000" dirty="0"/>
          </a:p>
        </p:txBody>
      </p:sp>
      <p:sp>
        <p:nvSpPr>
          <p:cNvPr id="14" name="Shape 12"/>
          <p:cNvSpPr/>
          <p:nvPr/>
        </p:nvSpPr>
        <p:spPr>
          <a:xfrm>
            <a:off x="7909560" y="1325880"/>
            <a:ext cx="3566160" cy="4389120"/>
          </a:xfrm>
          <a:prstGeom prst="roundRect">
            <a:avLst>
              <a:gd name="adj" fmla="val 2051"/>
            </a:avLst>
          </a:prstGeom>
          <a:solidFill>
            <a:srgbClr val="17124A"/>
          </a:solidFill>
          <a:ln w="12700">
            <a:solidFill>
              <a:srgbClr val="5045A8">
                <a:alpha val="95000"/>
              </a:srgbClr>
            </a:solidFill>
            <a:prstDash val="solid"/>
          </a:ln>
        </p:spPr>
        <p:txBody>
          <a:bodyPr/>
          <a:lstStyle/>
          <a:p>
            <a:endParaRPr lang="es-ES"/>
          </a:p>
        </p:txBody>
      </p:sp>
      <p:sp>
        <p:nvSpPr>
          <p:cNvPr id="15" name="Text 13"/>
          <p:cNvSpPr/>
          <p:nvPr/>
        </p:nvSpPr>
        <p:spPr>
          <a:xfrm>
            <a:off x="8110728" y="1527048"/>
            <a:ext cx="316382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Factores externos</a:t>
            </a:r>
            <a:endParaRPr lang="en-US" sz="1600" dirty="0"/>
          </a:p>
        </p:txBody>
      </p:sp>
      <p:sp>
        <p:nvSpPr>
          <p:cNvPr id="16" name="Text 14"/>
          <p:cNvSpPr/>
          <p:nvPr/>
        </p:nvSpPr>
        <p:spPr>
          <a:xfrm>
            <a:off x="8110728" y="1929384"/>
            <a:ext cx="3163824" cy="3621024"/>
          </a:xfrm>
          <a:prstGeom prst="rect">
            <a:avLst/>
          </a:prstGeom>
          <a:noFill/>
          <a:ln/>
        </p:spPr>
        <p:txBody>
          <a:bodyPr wrap="square" lIns="254" tIns="254" rIns="254" bIns="254" rtlCol="0" anchor="t">
            <a:normAutofit/>
          </a:bodyPr>
          <a:lstStyle/>
          <a:p>
            <a:pPr marL="0" indent="0">
              <a:buNone/>
            </a:pPr>
            <a:r>
              <a:rPr lang="en-US" sz="2000" dirty="0">
                <a:solidFill>
                  <a:srgbClr val="D8D5FF"/>
                </a:solidFill>
              </a:rPr>
              <a:t>• Social: continuidad del servicio educativo</a:t>
            </a:r>
            <a:endParaRPr lang="en-US" sz="2000" dirty="0"/>
          </a:p>
          <a:p>
            <a:pPr marL="0" indent="0">
              <a:buNone/>
            </a:pPr>
            <a:r>
              <a:rPr lang="en-US" sz="2000" dirty="0">
                <a:solidFill>
                  <a:srgbClr val="D8D5FF"/>
                </a:solidFill>
              </a:rPr>
              <a:t>• Económico: costos por caída o despliegue fallido</a:t>
            </a:r>
            <a:endParaRPr lang="en-US" sz="2000" dirty="0"/>
          </a:p>
          <a:p>
            <a:pPr marL="0" indent="0">
              <a:buNone/>
            </a:pPr>
            <a:r>
              <a:rPr lang="en-US" sz="2000" dirty="0">
                <a:solidFill>
                  <a:srgbClr val="D8D5FF"/>
                </a:solidFill>
              </a:rPr>
              <a:t>• Cultural: adopción por áreas administrativas</a:t>
            </a:r>
            <a:endParaRPr lang="en-US" sz="2000" dirty="0"/>
          </a:p>
          <a:p>
            <a:pPr marL="0" indent="0">
              <a:buNone/>
            </a:pPr>
            <a:r>
              <a:rPr lang="en-US" sz="2000" dirty="0">
                <a:solidFill>
                  <a:srgbClr val="D8D5FF"/>
                </a:solidFill>
              </a:rPr>
              <a:t>• Ambiental: operación digital y reducción de procesos manuales</a:t>
            </a:r>
            <a:endParaRPr lang="en-US" sz="2000" dirty="0"/>
          </a:p>
          <a:p>
            <a:pPr marL="0" indent="0">
              <a:buNone/>
            </a:pPr>
            <a:r>
              <a:rPr lang="en-US" sz="2000" dirty="0">
                <a:solidFill>
                  <a:srgbClr val="D8D5FF"/>
                </a:solidFill>
              </a:rPr>
              <a:t>• Global: necesidad de sistemas escalables</a:t>
            </a:r>
            <a:endParaRPr lang="en-US" sz="2000" dirty="0"/>
          </a:p>
        </p:txBody>
      </p:sp>
      <p:sp>
        <p:nvSpPr>
          <p:cNvPr id="19" name="Text 17"/>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20" name="Text 18"/>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2. Evaluación de soluciones candidatas</a:t>
            </a:r>
            <a:endParaRPr lang="en-US" sz="2600"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sz="1080" dirty="0">
                <a:solidFill>
                  <a:srgbClr val="A9A3D7"/>
                </a:solidFill>
              </a:rPr>
              <a:t>Comparación breve para justificar la selección final</a:t>
            </a:r>
            <a:endParaRPr lang="en-US" sz="1080" dirty="0"/>
          </a:p>
        </p:txBody>
      </p:sp>
      <p:sp>
        <p:nvSpPr>
          <p:cNvPr id="6" name="Shape 4"/>
          <p:cNvSpPr/>
          <p:nvPr/>
        </p:nvSpPr>
        <p:spPr>
          <a:xfrm>
            <a:off x="9555480" y="402336"/>
            <a:ext cx="2103120" cy="384048"/>
          </a:xfrm>
          <a:prstGeom prst="roundRect">
            <a:avLst>
              <a:gd name="adj" fmla="val 19048"/>
            </a:avLst>
          </a:prstGeom>
          <a:solidFill>
            <a:srgbClr val="21175F">
              <a:alpha val="95000"/>
            </a:srgbClr>
          </a:solidFill>
          <a:ln w="12700">
            <a:solidFill>
              <a:srgbClr val="5045A8">
                <a:alpha val="90000"/>
              </a:srgbClr>
            </a:solidFill>
            <a:prstDash val="solid"/>
          </a:ln>
        </p:spPr>
        <p:txBody>
          <a:bodyPr/>
          <a:lstStyle/>
          <a:p>
            <a:endParaRPr lang="es-ES"/>
          </a:p>
        </p:txBody>
      </p:sp>
      <p:sp>
        <p:nvSpPr>
          <p:cNvPr id="7" name="Text 5"/>
          <p:cNvSpPr/>
          <p:nvPr/>
        </p:nvSpPr>
        <p:spPr>
          <a:xfrm>
            <a:off x="9674352" y="484632"/>
            <a:ext cx="1920240" cy="201168"/>
          </a:xfrm>
          <a:prstGeom prst="rect">
            <a:avLst/>
          </a:prstGeom>
          <a:noFill/>
          <a:ln/>
        </p:spPr>
        <p:txBody>
          <a:bodyPr wrap="square" lIns="0" tIns="0" rIns="0" bIns="0" rtlCol="0" anchor="ctr"/>
          <a:lstStyle/>
          <a:p>
            <a:pPr marL="0" indent="0">
              <a:buNone/>
            </a:pPr>
            <a:r>
              <a:rPr lang="en-US" sz="920" b="1" dirty="0">
                <a:solidFill>
                  <a:srgbClr val="D8D5FF"/>
                </a:solidFill>
              </a:rPr>
              <a:t>Criterio: Evaluación</a:t>
            </a:r>
            <a:endParaRPr lang="en-US" sz="920" dirty="0"/>
          </a:p>
        </p:txBody>
      </p:sp>
      <p:sp>
        <p:nvSpPr>
          <p:cNvPr id="8" name="Shape 6"/>
          <p:cNvSpPr/>
          <p:nvPr/>
        </p:nvSpPr>
        <p:spPr>
          <a:xfrm>
            <a:off x="566928" y="1234440"/>
            <a:ext cx="2103120" cy="548640"/>
          </a:xfrm>
          <a:prstGeom prst="roundRect">
            <a:avLst>
              <a:gd name="adj" fmla="val 13333"/>
            </a:avLst>
          </a:prstGeom>
          <a:solidFill>
            <a:srgbClr val="7C3AED"/>
          </a:solidFill>
          <a:ln w="12700">
            <a:solidFill>
              <a:srgbClr val="5045A8">
                <a:alpha val="95000"/>
              </a:srgbClr>
            </a:solidFill>
            <a:prstDash val="solid"/>
          </a:ln>
        </p:spPr>
        <p:txBody>
          <a:bodyPr/>
          <a:lstStyle/>
          <a:p>
            <a:endParaRPr lang="es-ES"/>
          </a:p>
        </p:txBody>
      </p:sp>
      <p:sp>
        <p:nvSpPr>
          <p:cNvPr id="9" name="Text 7"/>
          <p:cNvSpPr/>
          <p:nvPr/>
        </p:nvSpPr>
        <p:spPr>
          <a:xfrm>
            <a:off x="768096" y="1435608"/>
            <a:ext cx="1700784" cy="146304"/>
          </a:xfrm>
          <a:prstGeom prst="rect">
            <a:avLst/>
          </a:prstGeom>
          <a:noFill/>
          <a:ln/>
        </p:spPr>
        <p:txBody>
          <a:bodyPr wrap="square" lIns="0" tIns="0" rIns="0" bIns="0" rtlCol="0" anchor="ctr"/>
          <a:lstStyle/>
          <a:p>
            <a:pPr marL="0" indent="0">
              <a:buNone/>
            </a:pPr>
            <a:r>
              <a:rPr lang="en-US" sz="1100" b="1" dirty="0">
                <a:solidFill>
                  <a:srgbClr val="FFFFFF"/>
                </a:solidFill>
                <a:latin typeface="Aptos Display" pitchFamily="34" charset="0"/>
                <a:ea typeface="Aptos Display" pitchFamily="34" charset="-122"/>
                <a:cs typeface="Aptos Display" pitchFamily="34" charset="-120"/>
              </a:rPr>
              <a:t>Alternativa</a:t>
            </a:r>
            <a:endParaRPr lang="en-US" sz="1100" dirty="0"/>
          </a:p>
        </p:txBody>
      </p:sp>
      <p:sp>
        <p:nvSpPr>
          <p:cNvPr id="10" name="Shape 8"/>
          <p:cNvSpPr/>
          <p:nvPr/>
        </p:nvSpPr>
        <p:spPr>
          <a:xfrm>
            <a:off x="2743200" y="1234440"/>
            <a:ext cx="2834640" cy="548640"/>
          </a:xfrm>
          <a:prstGeom prst="roundRect">
            <a:avLst>
              <a:gd name="adj" fmla="val 13333"/>
            </a:avLst>
          </a:prstGeom>
          <a:solidFill>
            <a:srgbClr val="7C3AED"/>
          </a:solidFill>
          <a:ln w="12700">
            <a:solidFill>
              <a:srgbClr val="5045A8">
                <a:alpha val="95000"/>
              </a:srgbClr>
            </a:solidFill>
            <a:prstDash val="solid"/>
          </a:ln>
        </p:spPr>
        <p:txBody>
          <a:bodyPr/>
          <a:lstStyle/>
          <a:p>
            <a:endParaRPr lang="es-ES"/>
          </a:p>
        </p:txBody>
      </p:sp>
      <p:sp>
        <p:nvSpPr>
          <p:cNvPr id="11" name="Text 9"/>
          <p:cNvSpPr/>
          <p:nvPr/>
        </p:nvSpPr>
        <p:spPr>
          <a:xfrm>
            <a:off x="2944368" y="1435608"/>
            <a:ext cx="2432304" cy="146304"/>
          </a:xfrm>
          <a:prstGeom prst="rect">
            <a:avLst/>
          </a:prstGeom>
          <a:noFill/>
          <a:ln/>
        </p:spPr>
        <p:txBody>
          <a:bodyPr wrap="square" lIns="0" tIns="0" rIns="0" bIns="0" rtlCol="0" anchor="ctr"/>
          <a:lstStyle/>
          <a:p>
            <a:pPr marL="0" indent="0">
              <a:buNone/>
            </a:pPr>
            <a:r>
              <a:rPr lang="en-US" sz="1100" b="1" dirty="0">
                <a:solidFill>
                  <a:srgbClr val="FFFFFF"/>
                </a:solidFill>
                <a:latin typeface="Aptos Display" pitchFamily="34" charset="0"/>
                <a:ea typeface="Aptos Display" pitchFamily="34" charset="-122"/>
                <a:cs typeface="Aptos Display" pitchFamily="34" charset="-120"/>
              </a:rPr>
              <a:t>Ventaja</a:t>
            </a:r>
            <a:endParaRPr lang="en-US" sz="1100" dirty="0"/>
          </a:p>
        </p:txBody>
      </p:sp>
      <p:sp>
        <p:nvSpPr>
          <p:cNvPr id="12" name="Shape 10"/>
          <p:cNvSpPr/>
          <p:nvPr/>
        </p:nvSpPr>
        <p:spPr>
          <a:xfrm>
            <a:off x="5650992" y="1234440"/>
            <a:ext cx="3291840" cy="548640"/>
          </a:xfrm>
          <a:prstGeom prst="roundRect">
            <a:avLst>
              <a:gd name="adj" fmla="val 13333"/>
            </a:avLst>
          </a:prstGeom>
          <a:solidFill>
            <a:srgbClr val="7C3AED"/>
          </a:solidFill>
          <a:ln w="12700">
            <a:solidFill>
              <a:srgbClr val="5045A8">
                <a:alpha val="95000"/>
              </a:srgbClr>
            </a:solidFill>
            <a:prstDash val="solid"/>
          </a:ln>
        </p:spPr>
        <p:txBody>
          <a:bodyPr/>
          <a:lstStyle/>
          <a:p>
            <a:endParaRPr lang="es-ES"/>
          </a:p>
        </p:txBody>
      </p:sp>
      <p:sp>
        <p:nvSpPr>
          <p:cNvPr id="13" name="Text 11"/>
          <p:cNvSpPr/>
          <p:nvPr/>
        </p:nvSpPr>
        <p:spPr>
          <a:xfrm>
            <a:off x="5852160" y="1435608"/>
            <a:ext cx="2889504" cy="146304"/>
          </a:xfrm>
          <a:prstGeom prst="rect">
            <a:avLst/>
          </a:prstGeom>
          <a:noFill/>
          <a:ln/>
        </p:spPr>
        <p:txBody>
          <a:bodyPr wrap="square" lIns="0" tIns="0" rIns="0" bIns="0" rtlCol="0" anchor="ctr"/>
          <a:lstStyle/>
          <a:p>
            <a:pPr marL="0" indent="0">
              <a:buNone/>
            </a:pPr>
            <a:r>
              <a:rPr lang="en-US" sz="1100" b="1" dirty="0">
                <a:solidFill>
                  <a:srgbClr val="FFFFFF"/>
                </a:solidFill>
                <a:latin typeface="Aptos Display" pitchFamily="34" charset="0"/>
                <a:ea typeface="Aptos Display" pitchFamily="34" charset="-122"/>
                <a:cs typeface="Aptos Display" pitchFamily="34" charset="-120"/>
              </a:rPr>
              <a:t>Riesgo / límite</a:t>
            </a:r>
            <a:endParaRPr lang="en-US" sz="1100" dirty="0"/>
          </a:p>
        </p:txBody>
      </p:sp>
      <p:sp>
        <p:nvSpPr>
          <p:cNvPr id="14" name="Shape 12"/>
          <p:cNvSpPr/>
          <p:nvPr/>
        </p:nvSpPr>
        <p:spPr>
          <a:xfrm>
            <a:off x="9015984" y="1234440"/>
            <a:ext cx="2423160" cy="548640"/>
          </a:xfrm>
          <a:prstGeom prst="roundRect">
            <a:avLst>
              <a:gd name="adj" fmla="val 13333"/>
            </a:avLst>
          </a:prstGeom>
          <a:solidFill>
            <a:srgbClr val="7C3AED"/>
          </a:solidFill>
          <a:ln w="12700">
            <a:solidFill>
              <a:srgbClr val="5045A8">
                <a:alpha val="95000"/>
              </a:srgbClr>
            </a:solidFill>
            <a:prstDash val="solid"/>
          </a:ln>
        </p:spPr>
        <p:txBody>
          <a:bodyPr/>
          <a:lstStyle/>
          <a:p>
            <a:endParaRPr lang="es-ES"/>
          </a:p>
        </p:txBody>
      </p:sp>
      <p:sp>
        <p:nvSpPr>
          <p:cNvPr id="15" name="Text 13"/>
          <p:cNvSpPr/>
          <p:nvPr/>
        </p:nvSpPr>
        <p:spPr>
          <a:xfrm>
            <a:off x="9217152" y="1435608"/>
            <a:ext cx="2020824" cy="146304"/>
          </a:xfrm>
          <a:prstGeom prst="rect">
            <a:avLst/>
          </a:prstGeom>
          <a:noFill/>
          <a:ln/>
        </p:spPr>
        <p:txBody>
          <a:bodyPr wrap="square" lIns="0" tIns="0" rIns="0" bIns="0" rtlCol="0" anchor="ctr"/>
          <a:lstStyle/>
          <a:p>
            <a:pPr marL="0" indent="0">
              <a:buNone/>
            </a:pPr>
            <a:r>
              <a:rPr lang="en-US" sz="1100" b="1" dirty="0">
                <a:solidFill>
                  <a:srgbClr val="FFFFFF"/>
                </a:solidFill>
                <a:latin typeface="Aptos Display" pitchFamily="34" charset="0"/>
                <a:ea typeface="Aptos Display" pitchFamily="34" charset="-122"/>
                <a:cs typeface="Aptos Display" pitchFamily="34" charset="-120"/>
              </a:rPr>
              <a:t>Decisión</a:t>
            </a:r>
            <a:endParaRPr lang="en-US" sz="1100" dirty="0"/>
          </a:p>
        </p:txBody>
      </p:sp>
      <p:sp>
        <p:nvSpPr>
          <p:cNvPr id="16" name="Shape 14"/>
          <p:cNvSpPr/>
          <p:nvPr/>
        </p:nvSpPr>
        <p:spPr>
          <a:xfrm>
            <a:off x="566928" y="1892808"/>
            <a:ext cx="210312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sz="1600"/>
          </a:p>
        </p:txBody>
      </p:sp>
      <p:sp>
        <p:nvSpPr>
          <p:cNvPr id="17" name="Text 15"/>
          <p:cNvSpPr/>
          <p:nvPr/>
        </p:nvSpPr>
        <p:spPr>
          <a:xfrm>
            <a:off x="685800" y="2020824"/>
            <a:ext cx="1865376" cy="685800"/>
          </a:xfrm>
          <a:prstGeom prst="rect">
            <a:avLst/>
          </a:prstGeom>
          <a:noFill/>
          <a:ln/>
        </p:spPr>
        <p:txBody>
          <a:bodyPr wrap="square" lIns="254" tIns="254" rIns="254" bIns="254" rtlCol="0" anchor="ctr">
            <a:normAutofit/>
          </a:bodyPr>
          <a:lstStyle/>
          <a:p>
            <a:pPr marL="0" indent="0">
              <a:buNone/>
            </a:pPr>
            <a:r>
              <a:rPr lang="en-US" sz="1600" b="1" dirty="0">
                <a:solidFill>
                  <a:srgbClr val="D8D5FF"/>
                </a:solidFill>
              </a:rPr>
              <a:t>Monolito modular</a:t>
            </a:r>
            <a:endParaRPr lang="en-US" sz="1600" dirty="0"/>
          </a:p>
        </p:txBody>
      </p:sp>
      <p:sp>
        <p:nvSpPr>
          <p:cNvPr id="18" name="Shape 16"/>
          <p:cNvSpPr/>
          <p:nvPr/>
        </p:nvSpPr>
        <p:spPr>
          <a:xfrm>
            <a:off x="2743200" y="1892808"/>
            <a:ext cx="283464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a:p>
        </p:txBody>
      </p:sp>
      <p:sp>
        <p:nvSpPr>
          <p:cNvPr id="19" name="Text 17"/>
          <p:cNvSpPr/>
          <p:nvPr/>
        </p:nvSpPr>
        <p:spPr>
          <a:xfrm>
            <a:off x="2862072" y="2020824"/>
            <a:ext cx="259689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Simple de operar y rápido para iniciar.</a:t>
            </a:r>
            <a:endParaRPr lang="en-US" sz="1600" dirty="0"/>
          </a:p>
        </p:txBody>
      </p:sp>
      <p:sp>
        <p:nvSpPr>
          <p:cNvPr id="20" name="Shape 18"/>
          <p:cNvSpPr/>
          <p:nvPr/>
        </p:nvSpPr>
        <p:spPr>
          <a:xfrm>
            <a:off x="5650992" y="1892808"/>
            <a:ext cx="329184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a:p>
        </p:txBody>
      </p:sp>
      <p:sp>
        <p:nvSpPr>
          <p:cNvPr id="21" name="Text 19"/>
          <p:cNvSpPr/>
          <p:nvPr/>
        </p:nvSpPr>
        <p:spPr>
          <a:xfrm>
            <a:off x="5769864" y="2020824"/>
            <a:ext cx="305409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Escalamiento y despliegue siguen afectando a toda la aplicación.</a:t>
            </a:r>
            <a:endParaRPr lang="en-US" sz="1600" dirty="0"/>
          </a:p>
        </p:txBody>
      </p:sp>
      <p:sp>
        <p:nvSpPr>
          <p:cNvPr id="22" name="Shape 20"/>
          <p:cNvSpPr/>
          <p:nvPr/>
        </p:nvSpPr>
        <p:spPr>
          <a:xfrm>
            <a:off x="9015984" y="1892808"/>
            <a:ext cx="242316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a:p>
        </p:txBody>
      </p:sp>
      <p:sp>
        <p:nvSpPr>
          <p:cNvPr id="23" name="Text 21"/>
          <p:cNvSpPr/>
          <p:nvPr/>
        </p:nvSpPr>
        <p:spPr>
          <a:xfrm>
            <a:off x="9134856" y="2020824"/>
            <a:ext cx="218541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No resuelve el problema de fondo.</a:t>
            </a:r>
            <a:endParaRPr lang="en-US" sz="1600" dirty="0"/>
          </a:p>
        </p:txBody>
      </p:sp>
      <p:sp>
        <p:nvSpPr>
          <p:cNvPr id="24" name="Shape 22"/>
          <p:cNvSpPr/>
          <p:nvPr/>
        </p:nvSpPr>
        <p:spPr>
          <a:xfrm>
            <a:off x="566928" y="3035808"/>
            <a:ext cx="210312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sz="1600"/>
          </a:p>
        </p:txBody>
      </p:sp>
      <p:sp>
        <p:nvSpPr>
          <p:cNvPr id="25" name="Text 23"/>
          <p:cNvSpPr/>
          <p:nvPr/>
        </p:nvSpPr>
        <p:spPr>
          <a:xfrm>
            <a:off x="685800" y="3163824"/>
            <a:ext cx="1865376" cy="685800"/>
          </a:xfrm>
          <a:prstGeom prst="rect">
            <a:avLst/>
          </a:prstGeom>
          <a:noFill/>
          <a:ln/>
        </p:spPr>
        <p:txBody>
          <a:bodyPr wrap="square" lIns="254" tIns="254" rIns="254" bIns="254" rtlCol="0" anchor="ctr">
            <a:normAutofit/>
          </a:bodyPr>
          <a:lstStyle/>
          <a:p>
            <a:pPr marL="0" indent="0">
              <a:buNone/>
            </a:pPr>
            <a:r>
              <a:rPr lang="en-US" sz="1600" b="1" dirty="0">
                <a:solidFill>
                  <a:srgbClr val="D8D5FF"/>
                </a:solidFill>
              </a:rPr>
              <a:t>Microservicios REST-only</a:t>
            </a:r>
            <a:endParaRPr lang="en-US" sz="1600" dirty="0"/>
          </a:p>
        </p:txBody>
      </p:sp>
      <p:sp>
        <p:nvSpPr>
          <p:cNvPr id="26" name="Shape 24"/>
          <p:cNvSpPr/>
          <p:nvPr/>
        </p:nvSpPr>
        <p:spPr>
          <a:xfrm>
            <a:off x="2743200" y="3035808"/>
            <a:ext cx="283464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a:p>
        </p:txBody>
      </p:sp>
      <p:sp>
        <p:nvSpPr>
          <p:cNvPr id="27" name="Text 25"/>
          <p:cNvSpPr/>
          <p:nvPr/>
        </p:nvSpPr>
        <p:spPr>
          <a:xfrm>
            <a:off x="2862072" y="3163824"/>
            <a:ext cx="259689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Servicios separados y APIs claras.</a:t>
            </a:r>
            <a:endParaRPr lang="en-US" sz="1600" dirty="0"/>
          </a:p>
        </p:txBody>
      </p:sp>
      <p:sp>
        <p:nvSpPr>
          <p:cNvPr id="28" name="Shape 26"/>
          <p:cNvSpPr/>
          <p:nvPr/>
        </p:nvSpPr>
        <p:spPr>
          <a:xfrm>
            <a:off x="5650992" y="3035808"/>
            <a:ext cx="329184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sz="1600"/>
          </a:p>
        </p:txBody>
      </p:sp>
      <p:sp>
        <p:nvSpPr>
          <p:cNvPr id="29" name="Text 27"/>
          <p:cNvSpPr/>
          <p:nvPr/>
        </p:nvSpPr>
        <p:spPr>
          <a:xfrm>
            <a:off x="5769864" y="3163824"/>
            <a:ext cx="305409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Mayor acoplamiento por llamadas directas entre servicios.</a:t>
            </a:r>
            <a:endParaRPr lang="en-US" sz="1600" dirty="0"/>
          </a:p>
        </p:txBody>
      </p:sp>
      <p:sp>
        <p:nvSpPr>
          <p:cNvPr id="30" name="Shape 28"/>
          <p:cNvSpPr/>
          <p:nvPr/>
        </p:nvSpPr>
        <p:spPr>
          <a:xfrm>
            <a:off x="9015984" y="3035808"/>
            <a:ext cx="242316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sz="1600"/>
          </a:p>
        </p:txBody>
      </p:sp>
      <p:sp>
        <p:nvSpPr>
          <p:cNvPr id="31" name="Text 29"/>
          <p:cNvSpPr/>
          <p:nvPr/>
        </p:nvSpPr>
        <p:spPr>
          <a:xfrm>
            <a:off x="9134856" y="3163824"/>
            <a:ext cx="218541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Viable, pero menos resiliente.</a:t>
            </a:r>
            <a:endParaRPr lang="en-US" sz="1600" dirty="0"/>
          </a:p>
        </p:txBody>
      </p:sp>
      <p:sp>
        <p:nvSpPr>
          <p:cNvPr id="32" name="Shape 30"/>
          <p:cNvSpPr/>
          <p:nvPr/>
        </p:nvSpPr>
        <p:spPr>
          <a:xfrm>
            <a:off x="566928" y="4178808"/>
            <a:ext cx="210312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sz="1600"/>
          </a:p>
        </p:txBody>
      </p:sp>
      <p:sp>
        <p:nvSpPr>
          <p:cNvPr id="33" name="Text 31"/>
          <p:cNvSpPr/>
          <p:nvPr/>
        </p:nvSpPr>
        <p:spPr>
          <a:xfrm>
            <a:off x="685800" y="4306824"/>
            <a:ext cx="1865376" cy="685800"/>
          </a:xfrm>
          <a:prstGeom prst="rect">
            <a:avLst/>
          </a:prstGeom>
          <a:noFill/>
          <a:ln/>
        </p:spPr>
        <p:txBody>
          <a:bodyPr wrap="square" lIns="254" tIns="254" rIns="254" bIns="254" rtlCol="0" anchor="ctr">
            <a:normAutofit/>
          </a:bodyPr>
          <a:lstStyle/>
          <a:p>
            <a:pPr marL="0" indent="0">
              <a:buNone/>
            </a:pPr>
            <a:r>
              <a:rPr lang="en-US" sz="1600" b="1" dirty="0">
                <a:solidFill>
                  <a:srgbClr val="D8D5FF"/>
                </a:solidFill>
              </a:rPr>
              <a:t>Microservicios + eventos</a:t>
            </a:r>
            <a:endParaRPr lang="en-US" sz="1600" dirty="0"/>
          </a:p>
        </p:txBody>
      </p:sp>
      <p:sp>
        <p:nvSpPr>
          <p:cNvPr id="34" name="Shape 32"/>
          <p:cNvSpPr/>
          <p:nvPr/>
        </p:nvSpPr>
        <p:spPr>
          <a:xfrm>
            <a:off x="2743200" y="4178808"/>
            <a:ext cx="283464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a:p>
        </p:txBody>
      </p:sp>
      <p:sp>
        <p:nvSpPr>
          <p:cNvPr id="35" name="Text 33"/>
          <p:cNvSpPr/>
          <p:nvPr/>
        </p:nvSpPr>
        <p:spPr>
          <a:xfrm>
            <a:off x="2862072" y="4306824"/>
            <a:ext cx="259689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Desacoplamiento, resiliencia y escalamiento por dominio.</a:t>
            </a:r>
            <a:endParaRPr lang="en-US" sz="1600" dirty="0"/>
          </a:p>
        </p:txBody>
      </p:sp>
      <p:sp>
        <p:nvSpPr>
          <p:cNvPr id="36" name="Shape 34"/>
          <p:cNvSpPr/>
          <p:nvPr/>
        </p:nvSpPr>
        <p:spPr>
          <a:xfrm>
            <a:off x="5650992" y="4178808"/>
            <a:ext cx="3291840" cy="932688"/>
          </a:xfrm>
          <a:prstGeom prst="roundRect">
            <a:avLst>
              <a:gd name="adj" fmla="val 3922"/>
            </a:avLst>
          </a:prstGeom>
          <a:solidFill>
            <a:srgbClr val="17124A"/>
          </a:solidFill>
          <a:ln w="12700">
            <a:solidFill>
              <a:srgbClr val="5045A8">
                <a:alpha val="85000"/>
              </a:srgbClr>
            </a:solidFill>
            <a:prstDash val="solid"/>
          </a:ln>
        </p:spPr>
        <p:txBody>
          <a:bodyPr/>
          <a:lstStyle/>
          <a:p>
            <a:endParaRPr lang="es-ES"/>
          </a:p>
        </p:txBody>
      </p:sp>
      <p:sp>
        <p:nvSpPr>
          <p:cNvPr id="37" name="Text 35"/>
          <p:cNvSpPr/>
          <p:nvPr/>
        </p:nvSpPr>
        <p:spPr>
          <a:xfrm>
            <a:off x="5769864" y="4306824"/>
            <a:ext cx="3054096" cy="685800"/>
          </a:xfrm>
          <a:prstGeom prst="rect">
            <a:avLst/>
          </a:prstGeom>
          <a:noFill/>
          <a:ln/>
        </p:spPr>
        <p:txBody>
          <a:bodyPr wrap="square" lIns="254" tIns="254" rIns="254" bIns="254" rtlCol="0" anchor="ctr">
            <a:normAutofit/>
          </a:bodyPr>
          <a:lstStyle/>
          <a:p>
            <a:pPr marL="0" indent="0">
              <a:buNone/>
            </a:pPr>
            <a:r>
              <a:rPr lang="en-US" sz="1600" dirty="0">
                <a:solidFill>
                  <a:srgbClr val="D8D5FF"/>
                </a:solidFill>
              </a:rPr>
              <a:t>Mayor complejidad operativa y consistencia eventual.</a:t>
            </a:r>
            <a:endParaRPr lang="en-US" sz="1600" dirty="0"/>
          </a:p>
        </p:txBody>
      </p:sp>
      <p:sp>
        <p:nvSpPr>
          <p:cNvPr id="38" name="Shape 36"/>
          <p:cNvSpPr/>
          <p:nvPr/>
        </p:nvSpPr>
        <p:spPr>
          <a:xfrm>
            <a:off x="9015984" y="4178808"/>
            <a:ext cx="2423160" cy="932688"/>
          </a:xfrm>
          <a:prstGeom prst="roundRect">
            <a:avLst>
              <a:gd name="adj" fmla="val 3922"/>
            </a:avLst>
          </a:prstGeom>
          <a:solidFill>
            <a:srgbClr val="1F3B2C"/>
          </a:solidFill>
          <a:ln w="12700">
            <a:solidFill>
              <a:srgbClr val="22C55E">
                <a:alpha val="85000"/>
              </a:srgbClr>
            </a:solidFill>
            <a:prstDash val="solid"/>
          </a:ln>
        </p:spPr>
        <p:txBody>
          <a:bodyPr/>
          <a:lstStyle/>
          <a:p>
            <a:endParaRPr lang="es-ES" dirty="0"/>
          </a:p>
        </p:txBody>
      </p:sp>
      <p:sp>
        <p:nvSpPr>
          <p:cNvPr id="39" name="Text 37"/>
          <p:cNvSpPr/>
          <p:nvPr/>
        </p:nvSpPr>
        <p:spPr>
          <a:xfrm>
            <a:off x="9134856" y="4306824"/>
            <a:ext cx="2185416" cy="685800"/>
          </a:xfrm>
          <a:prstGeom prst="rect">
            <a:avLst/>
          </a:prstGeom>
          <a:noFill/>
          <a:ln/>
        </p:spPr>
        <p:txBody>
          <a:bodyPr wrap="square" lIns="254" tIns="254" rIns="254" bIns="254" rtlCol="0" anchor="ctr">
            <a:normAutofit/>
          </a:bodyPr>
          <a:lstStyle/>
          <a:p>
            <a:pPr marL="0" indent="0">
              <a:buNone/>
            </a:pPr>
            <a:r>
              <a:rPr lang="en-US" sz="1600" b="1" dirty="0">
                <a:solidFill>
                  <a:srgbClr val="B8FFD2"/>
                </a:solidFill>
              </a:rPr>
              <a:t>Seleccionada. </a:t>
            </a:r>
            <a:endParaRPr lang="en-US" sz="1600" dirty="0"/>
          </a:p>
        </p:txBody>
      </p:sp>
      <p:sp>
        <p:nvSpPr>
          <p:cNvPr id="40" name="Shape 38"/>
          <p:cNvSpPr/>
          <p:nvPr/>
        </p:nvSpPr>
        <p:spPr>
          <a:xfrm>
            <a:off x="697992" y="5510506"/>
            <a:ext cx="10469880" cy="835429"/>
          </a:xfrm>
          <a:prstGeom prst="roundRect">
            <a:avLst>
              <a:gd name="adj" fmla="val 10256"/>
            </a:avLst>
          </a:prstGeom>
          <a:solidFill>
            <a:srgbClr val="21175F"/>
          </a:solidFill>
          <a:ln w="12700">
            <a:solidFill>
              <a:srgbClr val="5045A8">
                <a:alpha val="95000"/>
              </a:srgbClr>
            </a:solidFill>
            <a:prstDash val="solid"/>
          </a:ln>
        </p:spPr>
        <p:txBody>
          <a:bodyPr/>
          <a:lstStyle/>
          <a:p>
            <a:endParaRPr lang="es-ES"/>
          </a:p>
        </p:txBody>
      </p:sp>
      <p:sp>
        <p:nvSpPr>
          <p:cNvPr id="41" name="Text 39"/>
          <p:cNvSpPr/>
          <p:nvPr/>
        </p:nvSpPr>
        <p:spPr>
          <a:xfrm>
            <a:off x="818388" y="5468943"/>
            <a:ext cx="10067544" cy="329184"/>
          </a:xfrm>
          <a:prstGeom prst="rect">
            <a:avLst/>
          </a:prstGeom>
          <a:noFill/>
          <a:ln/>
        </p:spPr>
        <p:txBody>
          <a:bodyPr wrap="square" lIns="0" tIns="0" rIns="0" bIns="0" rtlCol="0" anchor="ctr"/>
          <a:lstStyle/>
          <a:p>
            <a:pPr marL="0" indent="0">
              <a:buNone/>
            </a:pPr>
            <a:r>
              <a:rPr lang="en-US" sz="1200" b="1" dirty="0">
                <a:solidFill>
                  <a:srgbClr val="FFFFFF"/>
                </a:solidFill>
                <a:latin typeface="Aptos Display" pitchFamily="34" charset="0"/>
                <a:ea typeface="Aptos Display" pitchFamily="34" charset="-122"/>
                <a:cs typeface="Aptos Display" pitchFamily="34" charset="-120"/>
              </a:rPr>
              <a:t>Justificación final</a:t>
            </a:r>
            <a:endParaRPr lang="en-US" sz="1200" dirty="0"/>
          </a:p>
        </p:txBody>
      </p:sp>
      <p:sp>
        <p:nvSpPr>
          <p:cNvPr id="42" name="Text 40"/>
          <p:cNvSpPr/>
          <p:nvPr/>
        </p:nvSpPr>
        <p:spPr>
          <a:xfrm>
            <a:off x="899160" y="5788152"/>
            <a:ext cx="10067544" cy="0"/>
          </a:xfrm>
          <a:prstGeom prst="rect">
            <a:avLst/>
          </a:prstGeom>
          <a:noFill/>
          <a:ln/>
        </p:spPr>
        <p:txBody>
          <a:bodyPr wrap="square" lIns="254" tIns="254" rIns="254" bIns="254" rtlCol="0" anchor="t">
            <a:noAutofit/>
          </a:bodyPr>
          <a:lstStyle/>
          <a:p>
            <a:pPr marL="0" indent="0">
              <a:buNone/>
            </a:pPr>
            <a:r>
              <a:rPr lang="en-US" sz="1600" dirty="0">
                <a:solidFill>
                  <a:srgbClr val="D8D5FF"/>
                </a:solidFill>
              </a:rPr>
              <a:t>Se selecciona microservicios orientados a eventos porque la solución debe separar dominios, permitir integración sin acoplamiento directo y mantener una vista consolidada para el dashboard.</a:t>
            </a:r>
            <a:endParaRPr lang="en-US" sz="1600" dirty="0"/>
          </a:p>
        </p:txBody>
      </p:sp>
      <p:sp>
        <p:nvSpPr>
          <p:cNvPr id="43" name="Text 41"/>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44" name="Text 42"/>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3. Solución propuesta: arquitectura integrada</a:t>
            </a:r>
            <a:endParaRPr lang="en-US" sz="2600"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sz="1080" dirty="0">
                <a:solidFill>
                  <a:srgbClr val="A9A3D7"/>
                </a:solidFill>
              </a:rPr>
              <a:t>Frontend, gateway, microservicios, bases independientes y eventos</a:t>
            </a:r>
            <a:endParaRPr lang="en-US" sz="1080" dirty="0"/>
          </a:p>
        </p:txBody>
      </p:sp>
      <p:sp>
        <p:nvSpPr>
          <p:cNvPr id="6" name="Shape 4"/>
          <p:cNvSpPr/>
          <p:nvPr/>
        </p:nvSpPr>
        <p:spPr>
          <a:xfrm>
            <a:off x="9555480" y="402336"/>
            <a:ext cx="2103120" cy="384048"/>
          </a:xfrm>
          <a:prstGeom prst="roundRect">
            <a:avLst>
              <a:gd name="adj" fmla="val 19048"/>
            </a:avLst>
          </a:prstGeom>
          <a:solidFill>
            <a:srgbClr val="21175F">
              <a:alpha val="95000"/>
            </a:srgbClr>
          </a:solidFill>
          <a:ln w="12700">
            <a:solidFill>
              <a:srgbClr val="5045A8">
                <a:alpha val="90000"/>
              </a:srgbClr>
            </a:solidFill>
            <a:prstDash val="solid"/>
          </a:ln>
        </p:spPr>
        <p:txBody>
          <a:bodyPr/>
          <a:lstStyle/>
          <a:p>
            <a:endParaRPr lang="es-ES"/>
          </a:p>
        </p:txBody>
      </p:sp>
      <p:sp>
        <p:nvSpPr>
          <p:cNvPr id="7" name="Text 5"/>
          <p:cNvSpPr/>
          <p:nvPr/>
        </p:nvSpPr>
        <p:spPr>
          <a:xfrm>
            <a:off x="9674352" y="484632"/>
            <a:ext cx="1920240" cy="201168"/>
          </a:xfrm>
          <a:prstGeom prst="rect">
            <a:avLst/>
          </a:prstGeom>
          <a:noFill/>
          <a:ln/>
        </p:spPr>
        <p:txBody>
          <a:bodyPr wrap="square" lIns="0" tIns="0" rIns="0" bIns="0" rtlCol="0" anchor="ctr"/>
          <a:lstStyle/>
          <a:p>
            <a:pPr marL="0" indent="0">
              <a:buNone/>
            </a:pPr>
            <a:r>
              <a:rPr lang="en-US" sz="920" b="1" dirty="0">
                <a:solidFill>
                  <a:srgbClr val="D8D5FF"/>
                </a:solidFill>
              </a:rPr>
              <a:t>Criterio: Solución</a:t>
            </a:r>
            <a:endParaRPr lang="en-US" sz="920" dirty="0"/>
          </a:p>
        </p:txBody>
      </p:sp>
      <p:pic>
        <p:nvPicPr>
          <p:cNvPr id="8" name="Image 0" descr="/mnt/data/a_clean_infographic_diagram_style_architecture_sli.png"/>
          <p:cNvPicPr>
            <a:picLocks noChangeAspect="1"/>
          </p:cNvPicPr>
          <p:nvPr/>
        </p:nvPicPr>
        <p:blipFill>
          <a:blip r:embed="rId3"/>
          <a:stretch>
            <a:fillRect/>
          </a:stretch>
        </p:blipFill>
        <p:spPr>
          <a:xfrm>
            <a:off x="2292858" y="1170432"/>
            <a:ext cx="7612380" cy="5074920"/>
          </a:xfrm>
          <a:prstGeom prst="rect">
            <a:avLst/>
          </a:prstGeom>
        </p:spPr>
      </p:pic>
      <p:sp>
        <p:nvSpPr>
          <p:cNvPr id="9" name="Shape 6"/>
          <p:cNvSpPr/>
          <p:nvPr/>
        </p:nvSpPr>
        <p:spPr>
          <a:xfrm>
            <a:off x="1051560" y="6272784"/>
            <a:ext cx="10058400" cy="329184"/>
          </a:xfrm>
          <a:prstGeom prst="roundRect">
            <a:avLst>
              <a:gd name="adj" fmla="val 27778"/>
            </a:avLst>
          </a:prstGeom>
          <a:solidFill>
            <a:srgbClr val="21175F"/>
          </a:solidFill>
          <a:ln w="12700">
            <a:solidFill>
              <a:srgbClr val="5045A8">
                <a:alpha val="90000"/>
              </a:srgbClr>
            </a:solidFill>
            <a:prstDash val="solid"/>
          </a:ln>
        </p:spPr>
        <p:txBody>
          <a:bodyPr/>
          <a:lstStyle/>
          <a:p>
            <a:endParaRPr lang="es-ES"/>
          </a:p>
        </p:txBody>
      </p:sp>
      <p:sp>
        <p:nvSpPr>
          <p:cNvPr id="10" name="Text 7"/>
          <p:cNvSpPr/>
          <p:nvPr/>
        </p:nvSpPr>
        <p:spPr>
          <a:xfrm>
            <a:off x="1161288" y="6350508"/>
            <a:ext cx="9838944" cy="164592"/>
          </a:xfrm>
          <a:prstGeom prst="rect">
            <a:avLst/>
          </a:prstGeom>
          <a:noFill/>
          <a:ln/>
        </p:spPr>
        <p:txBody>
          <a:bodyPr wrap="square" lIns="0" tIns="0" rIns="0" bIns="0" rtlCol="0" anchor="ctr"/>
          <a:lstStyle/>
          <a:p>
            <a:pPr marL="0" indent="0" algn="ctr">
              <a:buNone/>
            </a:pPr>
            <a:r>
              <a:rPr lang="en-US" sz="930" b="1" dirty="0">
                <a:solidFill>
                  <a:srgbClr val="D8D5FF"/>
                </a:solidFill>
              </a:rPr>
              <a:t>Frontend React/Vite → Kong → FastAPI Services → PostgreSQL + RabbitMQ → Dashboard Analytics</a:t>
            </a:r>
            <a:endParaRPr lang="en-US" sz="9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4. Patrones de integración implementados</a:t>
            </a:r>
            <a:endParaRPr lang="en-US" sz="2600"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sz="1080" dirty="0">
                <a:solidFill>
                  <a:srgbClr val="A9A3D7"/>
                </a:solidFill>
              </a:rPr>
              <a:t>Qué patrones se realizaron y dónde aparecen en el sistema</a:t>
            </a:r>
            <a:endParaRPr lang="en-US" sz="1080" dirty="0"/>
          </a:p>
        </p:txBody>
      </p:sp>
      <p:sp>
        <p:nvSpPr>
          <p:cNvPr id="8" name="Shape 6"/>
          <p:cNvSpPr/>
          <p:nvPr/>
        </p:nvSpPr>
        <p:spPr>
          <a:xfrm>
            <a:off x="621792" y="1261872"/>
            <a:ext cx="3429000" cy="1143000"/>
          </a:xfrm>
          <a:prstGeom prst="roundRect">
            <a:avLst>
              <a:gd name="adj" fmla="val 6400"/>
            </a:avLst>
          </a:prstGeom>
          <a:solidFill>
            <a:srgbClr val="21175F"/>
          </a:solidFill>
          <a:ln w="12700">
            <a:solidFill>
              <a:srgbClr val="5045A8">
                <a:alpha val="95000"/>
              </a:srgbClr>
            </a:solidFill>
            <a:prstDash val="solid"/>
          </a:ln>
        </p:spPr>
        <p:txBody>
          <a:bodyPr/>
          <a:lstStyle/>
          <a:p>
            <a:endParaRPr lang="es-ES"/>
          </a:p>
        </p:txBody>
      </p:sp>
      <p:sp>
        <p:nvSpPr>
          <p:cNvPr id="9" name="Text 7"/>
          <p:cNvSpPr/>
          <p:nvPr/>
        </p:nvSpPr>
        <p:spPr>
          <a:xfrm>
            <a:off x="822960" y="146304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API Gateway</a:t>
            </a:r>
            <a:endParaRPr lang="en-US" dirty="0"/>
          </a:p>
        </p:txBody>
      </p:sp>
      <p:sp>
        <p:nvSpPr>
          <p:cNvPr id="10" name="Text 8"/>
          <p:cNvSpPr/>
          <p:nvPr/>
        </p:nvSpPr>
        <p:spPr>
          <a:xfrm>
            <a:off x="838505" y="1805940"/>
            <a:ext cx="3026664" cy="374904"/>
          </a:xfrm>
          <a:prstGeom prst="rect">
            <a:avLst/>
          </a:prstGeom>
          <a:noFill/>
          <a:ln/>
        </p:spPr>
        <p:txBody>
          <a:bodyPr wrap="square" lIns="254" tIns="254" rIns="254" bIns="254" rtlCol="0" anchor="t">
            <a:noAutofit/>
          </a:bodyPr>
          <a:lstStyle/>
          <a:p>
            <a:pPr marL="0" indent="0">
              <a:buNone/>
            </a:pPr>
            <a:r>
              <a:rPr lang="en-US" dirty="0">
                <a:solidFill>
                  <a:srgbClr val="D8D5FF"/>
                </a:solidFill>
              </a:rPr>
              <a:t>Kong centraliza rutas, CORS y API Key.</a:t>
            </a:r>
            <a:endParaRPr lang="en-US" dirty="0"/>
          </a:p>
        </p:txBody>
      </p:sp>
      <p:sp>
        <p:nvSpPr>
          <p:cNvPr id="11" name="Shape 9"/>
          <p:cNvSpPr/>
          <p:nvPr/>
        </p:nvSpPr>
        <p:spPr>
          <a:xfrm>
            <a:off x="4416552" y="1261872"/>
            <a:ext cx="3429000" cy="1143000"/>
          </a:xfrm>
          <a:prstGeom prst="roundRect">
            <a:avLst>
              <a:gd name="adj" fmla="val 6400"/>
            </a:avLst>
          </a:prstGeom>
          <a:solidFill>
            <a:srgbClr val="21175F"/>
          </a:solidFill>
          <a:ln w="12700">
            <a:solidFill>
              <a:srgbClr val="5045A8">
                <a:alpha val="95000"/>
              </a:srgbClr>
            </a:solidFill>
            <a:prstDash val="solid"/>
          </a:ln>
        </p:spPr>
        <p:txBody>
          <a:bodyPr/>
          <a:lstStyle/>
          <a:p>
            <a:endParaRPr lang="es-ES"/>
          </a:p>
        </p:txBody>
      </p:sp>
      <p:sp>
        <p:nvSpPr>
          <p:cNvPr id="12" name="Text 10"/>
          <p:cNvSpPr/>
          <p:nvPr/>
        </p:nvSpPr>
        <p:spPr>
          <a:xfrm>
            <a:off x="4617720" y="146304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Database per Service</a:t>
            </a:r>
            <a:endParaRPr lang="en-US" dirty="0"/>
          </a:p>
        </p:txBody>
      </p:sp>
      <p:sp>
        <p:nvSpPr>
          <p:cNvPr id="13" name="Text 11"/>
          <p:cNvSpPr/>
          <p:nvPr/>
        </p:nvSpPr>
        <p:spPr>
          <a:xfrm>
            <a:off x="4567428" y="1865376"/>
            <a:ext cx="3026664" cy="374904"/>
          </a:xfrm>
          <a:prstGeom prst="rect">
            <a:avLst/>
          </a:prstGeom>
          <a:noFill/>
          <a:ln/>
        </p:spPr>
        <p:txBody>
          <a:bodyPr wrap="square" lIns="254" tIns="254" rIns="254" bIns="254" rtlCol="0" anchor="t">
            <a:noAutofit/>
          </a:bodyPr>
          <a:lstStyle/>
          <a:p>
            <a:pPr marL="0" indent="0">
              <a:buNone/>
            </a:pPr>
            <a:r>
              <a:rPr lang="en-US" dirty="0">
                <a:solidFill>
                  <a:srgbClr val="D8D5FF"/>
                </a:solidFill>
              </a:rPr>
              <a:t>Cada dominio conserva su propia PostgreSQL.</a:t>
            </a:r>
            <a:endParaRPr lang="en-US" dirty="0"/>
          </a:p>
        </p:txBody>
      </p:sp>
      <p:sp>
        <p:nvSpPr>
          <p:cNvPr id="14" name="Shape 12"/>
          <p:cNvSpPr/>
          <p:nvPr/>
        </p:nvSpPr>
        <p:spPr>
          <a:xfrm>
            <a:off x="8211312" y="1261872"/>
            <a:ext cx="3429000" cy="1143000"/>
          </a:xfrm>
          <a:prstGeom prst="roundRect">
            <a:avLst>
              <a:gd name="adj" fmla="val 6400"/>
            </a:avLst>
          </a:prstGeom>
          <a:solidFill>
            <a:srgbClr val="21175F"/>
          </a:solidFill>
          <a:ln w="12700">
            <a:solidFill>
              <a:srgbClr val="5045A8">
                <a:alpha val="95000"/>
              </a:srgbClr>
            </a:solidFill>
            <a:prstDash val="solid"/>
          </a:ln>
        </p:spPr>
        <p:txBody>
          <a:bodyPr/>
          <a:lstStyle/>
          <a:p>
            <a:endParaRPr lang="es-ES"/>
          </a:p>
        </p:txBody>
      </p:sp>
      <p:sp>
        <p:nvSpPr>
          <p:cNvPr id="15" name="Text 13"/>
          <p:cNvSpPr/>
          <p:nvPr/>
        </p:nvSpPr>
        <p:spPr>
          <a:xfrm>
            <a:off x="8412480" y="146304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Event-Driven</a:t>
            </a:r>
            <a:endParaRPr lang="en-US" dirty="0"/>
          </a:p>
        </p:txBody>
      </p:sp>
      <p:sp>
        <p:nvSpPr>
          <p:cNvPr id="16" name="Text 14"/>
          <p:cNvSpPr/>
          <p:nvPr/>
        </p:nvSpPr>
        <p:spPr>
          <a:xfrm>
            <a:off x="8412480" y="1865376"/>
            <a:ext cx="3026664" cy="374904"/>
          </a:xfrm>
          <a:prstGeom prst="rect">
            <a:avLst/>
          </a:prstGeom>
          <a:noFill/>
          <a:ln/>
        </p:spPr>
        <p:txBody>
          <a:bodyPr wrap="square" lIns="254" tIns="254" rIns="254" bIns="254" rtlCol="0" anchor="t">
            <a:noAutofit/>
          </a:bodyPr>
          <a:lstStyle/>
          <a:p>
            <a:pPr marL="0" indent="0">
              <a:buNone/>
            </a:pPr>
            <a:r>
              <a:rPr lang="en-US" sz="1400" dirty="0">
                <a:solidFill>
                  <a:srgbClr val="D8D5FF"/>
                </a:solidFill>
              </a:rPr>
              <a:t>Los cambios relevantes se publican como eventos.</a:t>
            </a:r>
            <a:endParaRPr lang="en-US" sz="1400" dirty="0"/>
          </a:p>
        </p:txBody>
      </p:sp>
      <p:sp>
        <p:nvSpPr>
          <p:cNvPr id="17" name="Shape 15"/>
          <p:cNvSpPr/>
          <p:nvPr/>
        </p:nvSpPr>
        <p:spPr>
          <a:xfrm>
            <a:off x="621792" y="2770632"/>
            <a:ext cx="3429000" cy="1143000"/>
          </a:xfrm>
          <a:prstGeom prst="roundRect">
            <a:avLst>
              <a:gd name="adj" fmla="val 6400"/>
            </a:avLst>
          </a:prstGeom>
          <a:solidFill>
            <a:srgbClr val="17124A"/>
          </a:solidFill>
          <a:ln w="12700">
            <a:solidFill>
              <a:srgbClr val="5045A8">
                <a:alpha val="95000"/>
              </a:srgbClr>
            </a:solidFill>
            <a:prstDash val="solid"/>
          </a:ln>
        </p:spPr>
        <p:txBody>
          <a:bodyPr/>
          <a:lstStyle/>
          <a:p>
            <a:endParaRPr lang="es-ES"/>
          </a:p>
        </p:txBody>
      </p:sp>
      <p:sp>
        <p:nvSpPr>
          <p:cNvPr id="18" name="Text 16"/>
          <p:cNvSpPr/>
          <p:nvPr/>
        </p:nvSpPr>
        <p:spPr>
          <a:xfrm>
            <a:off x="822960" y="297180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Publish/Subscribe</a:t>
            </a:r>
            <a:endParaRPr lang="en-US" dirty="0"/>
          </a:p>
        </p:txBody>
      </p:sp>
      <p:sp>
        <p:nvSpPr>
          <p:cNvPr id="19" name="Text 17"/>
          <p:cNvSpPr/>
          <p:nvPr/>
        </p:nvSpPr>
        <p:spPr>
          <a:xfrm>
            <a:off x="838505" y="3313869"/>
            <a:ext cx="3026664" cy="374904"/>
          </a:xfrm>
          <a:prstGeom prst="rect">
            <a:avLst/>
          </a:prstGeom>
          <a:noFill/>
          <a:ln/>
        </p:spPr>
        <p:txBody>
          <a:bodyPr wrap="square" lIns="254" tIns="254" rIns="254" bIns="254" rtlCol="0" anchor="t">
            <a:noAutofit/>
          </a:bodyPr>
          <a:lstStyle/>
          <a:p>
            <a:pPr marL="0" indent="0">
              <a:buNone/>
            </a:pPr>
            <a:r>
              <a:rPr lang="en-US" dirty="0">
                <a:solidFill>
                  <a:srgbClr val="D8D5FF"/>
                </a:solidFill>
              </a:rPr>
              <a:t>Un evento llega a varios consumidores.</a:t>
            </a:r>
            <a:endParaRPr lang="en-US" dirty="0"/>
          </a:p>
        </p:txBody>
      </p:sp>
      <p:sp>
        <p:nvSpPr>
          <p:cNvPr id="20" name="Shape 18"/>
          <p:cNvSpPr/>
          <p:nvPr/>
        </p:nvSpPr>
        <p:spPr>
          <a:xfrm>
            <a:off x="4416552" y="2770632"/>
            <a:ext cx="3429000" cy="1143000"/>
          </a:xfrm>
          <a:prstGeom prst="roundRect">
            <a:avLst>
              <a:gd name="adj" fmla="val 6400"/>
            </a:avLst>
          </a:prstGeom>
          <a:solidFill>
            <a:srgbClr val="17124A"/>
          </a:solidFill>
          <a:ln w="12700">
            <a:solidFill>
              <a:srgbClr val="5045A8">
                <a:alpha val="95000"/>
              </a:srgbClr>
            </a:solidFill>
            <a:prstDash val="solid"/>
          </a:ln>
        </p:spPr>
        <p:txBody>
          <a:bodyPr/>
          <a:lstStyle/>
          <a:p>
            <a:endParaRPr lang="es-ES"/>
          </a:p>
        </p:txBody>
      </p:sp>
      <p:sp>
        <p:nvSpPr>
          <p:cNvPr id="21" name="Text 19"/>
          <p:cNvSpPr/>
          <p:nvPr/>
        </p:nvSpPr>
        <p:spPr>
          <a:xfrm>
            <a:off x="4617720" y="2971800"/>
            <a:ext cx="3026664" cy="329184"/>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Point-to-Point</a:t>
            </a:r>
            <a:endParaRPr lang="en-US" sz="1350" dirty="0"/>
          </a:p>
        </p:txBody>
      </p:sp>
      <p:sp>
        <p:nvSpPr>
          <p:cNvPr id="22" name="Text 20"/>
          <p:cNvSpPr/>
          <p:nvPr/>
        </p:nvSpPr>
        <p:spPr>
          <a:xfrm>
            <a:off x="4633265" y="3291840"/>
            <a:ext cx="3026664" cy="374904"/>
          </a:xfrm>
          <a:prstGeom prst="rect">
            <a:avLst/>
          </a:prstGeom>
          <a:noFill/>
          <a:ln/>
        </p:spPr>
        <p:txBody>
          <a:bodyPr wrap="square" lIns="254" tIns="254" rIns="254" bIns="254" rtlCol="0" anchor="t">
            <a:noAutofit/>
          </a:bodyPr>
          <a:lstStyle/>
          <a:p>
            <a:pPr marL="0" indent="0">
              <a:buNone/>
            </a:pPr>
            <a:r>
              <a:rPr lang="en-US" dirty="0">
                <a:solidFill>
                  <a:srgbClr val="D8D5FF"/>
                </a:solidFill>
              </a:rPr>
              <a:t>Colas específicas para consumidores concretos.</a:t>
            </a:r>
            <a:endParaRPr lang="en-US" dirty="0"/>
          </a:p>
        </p:txBody>
      </p:sp>
      <p:sp>
        <p:nvSpPr>
          <p:cNvPr id="23" name="Shape 21"/>
          <p:cNvSpPr/>
          <p:nvPr/>
        </p:nvSpPr>
        <p:spPr>
          <a:xfrm>
            <a:off x="8211312" y="2770632"/>
            <a:ext cx="3429000" cy="1143000"/>
          </a:xfrm>
          <a:prstGeom prst="roundRect">
            <a:avLst>
              <a:gd name="adj" fmla="val 6400"/>
            </a:avLst>
          </a:prstGeom>
          <a:solidFill>
            <a:srgbClr val="17124A"/>
          </a:solidFill>
          <a:ln w="12700">
            <a:solidFill>
              <a:srgbClr val="5045A8">
                <a:alpha val="95000"/>
              </a:srgbClr>
            </a:solidFill>
            <a:prstDash val="solid"/>
          </a:ln>
        </p:spPr>
        <p:txBody>
          <a:bodyPr/>
          <a:lstStyle/>
          <a:p>
            <a:endParaRPr lang="es-ES"/>
          </a:p>
        </p:txBody>
      </p:sp>
      <p:sp>
        <p:nvSpPr>
          <p:cNvPr id="24" name="Text 22"/>
          <p:cNvSpPr/>
          <p:nvPr/>
        </p:nvSpPr>
        <p:spPr>
          <a:xfrm>
            <a:off x="8412480" y="297180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CQRS / Proyección</a:t>
            </a:r>
            <a:endParaRPr lang="en-US" dirty="0"/>
          </a:p>
        </p:txBody>
      </p:sp>
      <p:sp>
        <p:nvSpPr>
          <p:cNvPr id="25" name="Text 23"/>
          <p:cNvSpPr/>
          <p:nvPr/>
        </p:nvSpPr>
        <p:spPr>
          <a:xfrm>
            <a:off x="8412480" y="3374136"/>
            <a:ext cx="3026664" cy="374904"/>
          </a:xfrm>
          <a:prstGeom prst="rect">
            <a:avLst/>
          </a:prstGeom>
          <a:noFill/>
          <a:ln/>
        </p:spPr>
        <p:txBody>
          <a:bodyPr wrap="square" lIns="254" tIns="254" rIns="254" bIns="254" rtlCol="0" anchor="t">
            <a:noAutofit/>
          </a:bodyPr>
          <a:lstStyle/>
          <a:p>
            <a:pPr marL="0" indent="0">
              <a:buNone/>
            </a:pPr>
            <a:r>
              <a:rPr lang="en-US" dirty="0">
                <a:solidFill>
                  <a:srgbClr val="D8D5FF"/>
                </a:solidFill>
              </a:rPr>
              <a:t>Analytics mantiene lectura consolidada.</a:t>
            </a:r>
            <a:endParaRPr lang="en-US" dirty="0"/>
          </a:p>
        </p:txBody>
      </p:sp>
      <p:sp>
        <p:nvSpPr>
          <p:cNvPr id="26" name="Shape 24"/>
          <p:cNvSpPr/>
          <p:nvPr/>
        </p:nvSpPr>
        <p:spPr>
          <a:xfrm>
            <a:off x="621792" y="4279392"/>
            <a:ext cx="3429000" cy="1143000"/>
          </a:xfrm>
          <a:prstGeom prst="roundRect">
            <a:avLst>
              <a:gd name="adj" fmla="val 6400"/>
            </a:avLst>
          </a:prstGeom>
          <a:solidFill>
            <a:srgbClr val="17124A"/>
          </a:solidFill>
          <a:ln w="12700">
            <a:solidFill>
              <a:srgbClr val="5045A8">
                <a:alpha val="95000"/>
              </a:srgbClr>
            </a:solidFill>
            <a:prstDash val="solid"/>
          </a:ln>
        </p:spPr>
        <p:txBody>
          <a:bodyPr/>
          <a:lstStyle/>
          <a:p>
            <a:endParaRPr lang="es-ES"/>
          </a:p>
        </p:txBody>
      </p:sp>
      <p:sp>
        <p:nvSpPr>
          <p:cNvPr id="27" name="Text 25"/>
          <p:cNvSpPr/>
          <p:nvPr/>
        </p:nvSpPr>
        <p:spPr>
          <a:xfrm>
            <a:off x="822960" y="4480560"/>
            <a:ext cx="3026664" cy="329184"/>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Idempotent Receiver</a:t>
            </a:r>
            <a:endParaRPr lang="en-US" sz="1350" dirty="0"/>
          </a:p>
        </p:txBody>
      </p:sp>
      <p:sp>
        <p:nvSpPr>
          <p:cNvPr id="28" name="Text 26"/>
          <p:cNvSpPr/>
          <p:nvPr/>
        </p:nvSpPr>
        <p:spPr>
          <a:xfrm>
            <a:off x="838505" y="4809744"/>
            <a:ext cx="3026664" cy="374904"/>
          </a:xfrm>
          <a:prstGeom prst="rect">
            <a:avLst/>
          </a:prstGeom>
          <a:noFill/>
          <a:ln/>
        </p:spPr>
        <p:txBody>
          <a:bodyPr wrap="square" lIns="254" tIns="254" rIns="254" bIns="254" rtlCol="0" anchor="t">
            <a:noAutofit/>
          </a:bodyPr>
          <a:lstStyle/>
          <a:p>
            <a:pPr marL="0" indent="0">
              <a:buNone/>
            </a:pPr>
            <a:r>
              <a:rPr lang="en-US" dirty="0">
                <a:solidFill>
                  <a:srgbClr val="D8D5FF"/>
                </a:solidFill>
              </a:rPr>
              <a:t>processed_events evita duplicados.</a:t>
            </a:r>
            <a:endParaRPr lang="en-US" dirty="0"/>
          </a:p>
        </p:txBody>
      </p:sp>
      <p:sp>
        <p:nvSpPr>
          <p:cNvPr id="29" name="Shape 27"/>
          <p:cNvSpPr/>
          <p:nvPr/>
        </p:nvSpPr>
        <p:spPr>
          <a:xfrm>
            <a:off x="4416552" y="4279392"/>
            <a:ext cx="3429000" cy="1143000"/>
          </a:xfrm>
          <a:prstGeom prst="roundRect">
            <a:avLst>
              <a:gd name="adj" fmla="val 6400"/>
            </a:avLst>
          </a:prstGeom>
          <a:solidFill>
            <a:srgbClr val="17124A"/>
          </a:solidFill>
          <a:ln w="12700">
            <a:solidFill>
              <a:srgbClr val="5045A8">
                <a:alpha val="95000"/>
              </a:srgbClr>
            </a:solidFill>
            <a:prstDash val="solid"/>
          </a:ln>
        </p:spPr>
        <p:txBody>
          <a:bodyPr/>
          <a:lstStyle/>
          <a:p>
            <a:endParaRPr lang="es-ES"/>
          </a:p>
        </p:txBody>
      </p:sp>
      <p:sp>
        <p:nvSpPr>
          <p:cNvPr id="30" name="Text 28"/>
          <p:cNvSpPr/>
          <p:nvPr/>
        </p:nvSpPr>
        <p:spPr>
          <a:xfrm>
            <a:off x="4617720" y="448056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Dead Letter Queue</a:t>
            </a:r>
            <a:endParaRPr lang="en-US" dirty="0"/>
          </a:p>
        </p:txBody>
      </p:sp>
      <p:sp>
        <p:nvSpPr>
          <p:cNvPr id="31" name="Text 29"/>
          <p:cNvSpPr/>
          <p:nvPr/>
        </p:nvSpPr>
        <p:spPr>
          <a:xfrm>
            <a:off x="4617720" y="4882896"/>
            <a:ext cx="3026664" cy="374904"/>
          </a:xfrm>
          <a:prstGeom prst="rect">
            <a:avLst/>
          </a:prstGeom>
          <a:noFill/>
          <a:ln/>
        </p:spPr>
        <p:txBody>
          <a:bodyPr wrap="square" lIns="254" tIns="254" rIns="254" bIns="254" rtlCol="0" anchor="t">
            <a:normAutofit/>
          </a:bodyPr>
          <a:lstStyle/>
          <a:p>
            <a:pPr marL="0" indent="0">
              <a:buNone/>
            </a:pPr>
            <a:r>
              <a:rPr lang="en-US" dirty="0">
                <a:solidFill>
                  <a:srgbClr val="D8D5FF"/>
                </a:solidFill>
              </a:rPr>
              <a:t>Errores se aíslan para revisión.</a:t>
            </a:r>
            <a:endParaRPr lang="en-US" dirty="0"/>
          </a:p>
        </p:txBody>
      </p:sp>
      <p:sp>
        <p:nvSpPr>
          <p:cNvPr id="32" name="Shape 30"/>
          <p:cNvSpPr/>
          <p:nvPr/>
        </p:nvSpPr>
        <p:spPr>
          <a:xfrm>
            <a:off x="8211312" y="4279392"/>
            <a:ext cx="3429000" cy="1143000"/>
          </a:xfrm>
          <a:prstGeom prst="roundRect">
            <a:avLst>
              <a:gd name="adj" fmla="val 6400"/>
            </a:avLst>
          </a:prstGeom>
          <a:solidFill>
            <a:srgbClr val="17124A"/>
          </a:solidFill>
          <a:ln w="12700">
            <a:solidFill>
              <a:srgbClr val="5045A8">
                <a:alpha val="95000"/>
              </a:srgbClr>
            </a:solidFill>
            <a:prstDash val="solid"/>
          </a:ln>
        </p:spPr>
        <p:txBody>
          <a:bodyPr/>
          <a:lstStyle/>
          <a:p>
            <a:endParaRPr lang="es-ES"/>
          </a:p>
        </p:txBody>
      </p:sp>
      <p:sp>
        <p:nvSpPr>
          <p:cNvPr id="33" name="Text 31"/>
          <p:cNvSpPr/>
          <p:nvPr/>
        </p:nvSpPr>
        <p:spPr>
          <a:xfrm>
            <a:off x="8412480" y="448056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Correlation ID</a:t>
            </a:r>
            <a:endParaRPr lang="en-US" dirty="0"/>
          </a:p>
        </p:txBody>
      </p:sp>
      <p:sp>
        <p:nvSpPr>
          <p:cNvPr id="34" name="Text 32"/>
          <p:cNvSpPr/>
          <p:nvPr/>
        </p:nvSpPr>
        <p:spPr>
          <a:xfrm>
            <a:off x="8414974" y="4833020"/>
            <a:ext cx="3026664" cy="374904"/>
          </a:xfrm>
          <a:prstGeom prst="rect">
            <a:avLst/>
          </a:prstGeom>
          <a:noFill/>
          <a:ln/>
        </p:spPr>
        <p:txBody>
          <a:bodyPr wrap="square" lIns="254" tIns="254" rIns="254" bIns="254" rtlCol="0" anchor="t">
            <a:noAutofit/>
          </a:bodyPr>
          <a:lstStyle/>
          <a:p>
            <a:pPr marL="0" indent="0">
              <a:buNone/>
            </a:pPr>
            <a:r>
              <a:rPr lang="en-US" dirty="0">
                <a:solidFill>
                  <a:srgbClr val="D8D5FF"/>
                </a:solidFill>
              </a:rPr>
              <a:t>Trazabilidad de extremo a extremo.</a:t>
            </a:r>
            <a:endParaRPr lang="en-US" dirty="0"/>
          </a:p>
        </p:txBody>
      </p:sp>
      <p:sp>
        <p:nvSpPr>
          <p:cNvPr id="35" name="Shape 33"/>
          <p:cNvSpPr/>
          <p:nvPr/>
        </p:nvSpPr>
        <p:spPr>
          <a:xfrm>
            <a:off x="1600200" y="6172200"/>
            <a:ext cx="8961120" cy="329184"/>
          </a:xfrm>
          <a:prstGeom prst="roundRect">
            <a:avLst>
              <a:gd name="adj" fmla="val 27778"/>
            </a:avLst>
          </a:prstGeom>
          <a:solidFill>
            <a:srgbClr val="7C3AED"/>
          </a:solidFill>
          <a:ln w="12700">
            <a:solidFill>
              <a:srgbClr val="5045A8">
                <a:alpha val="90000"/>
              </a:srgbClr>
            </a:solidFill>
            <a:prstDash val="solid"/>
          </a:ln>
        </p:spPr>
        <p:txBody>
          <a:bodyPr/>
          <a:lstStyle/>
          <a:p>
            <a:endParaRPr lang="es-ES"/>
          </a:p>
        </p:txBody>
      </p:sp>
      <p:sp>
        <p:nvSpPr>
          <p:cNvPr id="36" name="Text 34"/>
          <p:cNvSpPr/>
          <p:nvPr/>
        </p:nvSpPr>
        <p:spPr>
          <a:xfrm>
            <a:off x="1709928" y="6249924"/>
            <a:ext cx="8741664" cy="164592"/>
          </a:xfrm>
          <a:prstGeom prst="rect">
            <a:avLst/>
          </a:prstGeom>
          <a:noFill/>
          <a:ln/>
        </p:spPr>
        <p:txBody>
          <a:bodyPr wrap="square" lIns="0" tIns="0" rIns="0" bIns="0" rtlCol="0" anchor="ctr"/>
          <a:lstStyle/>
          <a:p>
            <a:pPr marL="0" indent="0" algn="ctr">
              <a:buNone/>
            </a:pPr>
            <a:r>
              <a:rPr lang="en-US" sz="930" b="1" dirty="0">
                <a:solidFill>
                  <a:srgbClr val="FFFFFF"/>
                </a:solidFill>
              </a:rPr>
              <a:t>Frase clave: APIs para acciones inmediatas; eventos para integración desacoplada.</a:t>
            </a:r>
            <a:endParaRPr lang="en-US" sz="930" dirty="0"/>
          </a:p>
        </p:txBody>
      </p:sp>
      <p:sp>
        <p:nvSpPr>
          <p:cNvPr id="37" name="Text 35"/>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38" name="Text 36"/>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625"/>
        </a:solidFill>
        <a:effectLst/>
      </p:bgPr>
    </p:bg>
    <p:spTree>
      <p:nvGrpSpPr>
        <p:cNvPr id="1" name=""/>
        <p:cNvGrpSpPr/>
        <p:nvPr/>
      </p:nvGrpSpPr>
      <p:grpSpPr>
        <a:xfrm>
          <a:off x="0" y="0"/>
          <a:ext cx="0" cy="0"/>
          <a:chOff x="0" y="0"/>
          <a:chExt cx="0" cy="0"/>
        </a:xfrm>
      </p:grpSpPr>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5. Flujo de trabajo que se demuestra</a:t>
            </a:r>
            <a:endParaRPr lang="en-US" sz="2600"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sz="1080" dirty="0">
                <a:solidFill>
                  <a:srgbClr val="A9A3D7"/>
                </a:solidFill>
              </a:rPr>
              <a:t>Secuencia recomendada para defender la integración en vivo</a:t>
            </a:r>
            <a:endParaRPr lang="en-US" sz="1080" dirty="0"/>
          </a:p>
        </p:txBody>
      </p:sp>
      <p:sp>
        <p:nvSpPr>
          <p:cNvPr id="6" name="Shape 4"/>
          <p:cNvSpPr/>
          <p:nvPr/>
        </p:nvSpPr>
        <p:spPr>
          <a:xfrm>
            <a:off x="9555480" y="402336"/>
            <a:ext cx="2103120" cy="384048"/>
          </a:xfrm>
          <a:prstGeom prst="roundRect">
            <a:avLst>
              <a:gd name="adj" fmla="val 19048"/>
            </a:avLst>
          </a:prstGeom>
          <a:solidFill>
            <a:srgbClr val="21175F">
              <a:alpha val="95000"/>
            </a:srgbClr>
          </a:solidFill>
          <a:ln w="12700">
            <a:solidFill>
              <a:srgbClr val="5045A8">
                <a:alpha val="90000"/>
              </a:srgbClr>
            </a:solidFill>
            <a:prstDash val="solid"/>
          </a:ln>
        </p:spPr>
        <p:txBody>
          <a:bodyPr/>
          <a:lstStyle/>
          <a:p>
            <a:endParaRPr lang="es-ES"/>
          </a:p>
        </p:txBody>
      </p:sp>
      <p:sp>
        <p:nvSpPr>
          <p:cNvPr id="7" name="Text 5"/>
          <p:cNvSpPr/>
          <p:nvPr/>
        </p:nvSpPr>
        <p:spPr>
          <a:xfrm>
            <a:off x="9674352" y="484632"/>
            <a:ext cx="1920240" cy="201168"/>
          </a:xfrm>
          <a:prstGeom prst="rect">
            <a:avLst/>
          </a:prstGeom>
          <a:noFill/>
          <a:ln/>
        </p:spPr>
        <p:txBody>
          <a:bodyPr wrap="square" lIns="0" tIns="0" rIns="0" bIns="0" rtlCol="0" anchor="ctr"/>
          <a:lstStyle/>
          <a:p>
            <a:pPr marL="0" indent="0">
              <a:buNone/>
            </a:pPr>
            <a:r>
              <a:rPr lang="en-US" sz="920" b="1" dirty="0">
                <a:solidFill>
                  <a:srgbClr val="D8D5FF"/>
                </a:solidFill>
              </a:rPr>
              <a:t>Criterio: Implementación</a:t>
            </a:r>
            <a:endParaRPr lang="en-US" sz="920" dirty="0"/>
          </a:p>
        </p:txBody>
      </p:sp>
      <p:sp>
        <p:nvSpPr>
          <p:cNvPr id="8" name="Shape 6"/>
          <p:cNvSpPr/>
          <p:nvPr/>
        </p:nvSpPr>
        <p:spPr>
          <a:xfrm>
            <a:off x="1645920" y="1335024"/>
            <a:ext cx="685800" cy="685800"/>
          </a:xfrm>
          <a:prstGeom prst="ellipse">
            <a:avLst/>
          </a:prstGeom>
          <a:solidFill>
            <a:srgbClr val="7C3AED"/>
          </a:solidFill>
          <a:ln w="12700">
            <a:solidFill>
              <a:srgbClr val="22D3EE"/>
            </a:solidFill>
            <a:prstDash val="solid"/>
          </a:ln>
        </p:spPr>
        <p:txBody>
          <a:bodyPr/>
          <a:lstStyle/>
          <a:p>
            <a:endParaRPr lang="es-ES"/>
          </a:p>
        </p:txBody>
      </p:sp>
      <p:sp>
        <p:nvSpPr>
          <p:cNvPr id="9" name="Text 7"/>
          <p:cNvSpPr/>
          <p:nvPr/>
        </p:nvSpPr>
        <p:spPr>
          <a:xfrm>
            <a:off x="1600200" y="1536192"/>
            <a:ext cx="685800" cy="146304"/>
          </a:xfrm>
          <a:prstGeom prst="rect">
            <a:avLst/>
          </a:prstGeom>
          <a:noFill/>
          <a:ln/>
        </p:spPr>
        <p:txBody>
          <a:bodyPr wrap="square" lIns="0" tIns="0" rIns="0" bIns="0" rtlCol="0" anchor="ctr"/>
          <a:lstStyle/>
          <a:p>
            <a:pPr marL="0" indent="0" algn="ctr">
              <a:buNone/>
            </a:pPr>
            <a:r>
              <a:rPr lang="en-US" b="1" dirty="0">
                <a:solidFill>
                  <a:srgbClr val="FFFFFF"/>
                </a:solidFill>
              </a:rPr>
              <a:t>1</a:t>
            </a:r>
            <a:endParaRPr lang="en-US" dirty="0"/>
          </a:p>
        </p:txBody>
      </p:sp>
      <p:sp>
        <p:nvSpPr>
          <p:cNvPr id="10" name="Shape 8"/>
          <p:cNvSpPr/>
          <p:nvPr/>
        </p:nvSpPr>
        <p:spPr>
          <a:xfrm>
            <a:off x="685800" y="2331720"/>
            <a:ext cx="2514600" cy="2084832"/>
          </a:xfrm>
          <a:prstGeom prst="roundRect">
            <a:avLst>
              <a:gd name="adj" fmla="val 3509"/>
            </a:avLst>
          </a:prstGeom>
          <a:solidFill>
            <a:srgbClr val="17124A"/>
          </a:solidFill>
          <a:ln w="12700">
            <a:solidFill>
              <a:srgbClr val="5045A8">
                <a:alpha val="95000"/>
              </a:srgbClr>
            </a:solidFill>
            <a:prstDash val="solid"/>
          </a:ln>
        </p:spPr>
        <p:txBody>
          <a:bodyPr/>
          <a:lstStyle/>
          <a:p>
            <a:endParaRPr lang="es-ES"/>
          </a:p>
        </p:txBody>
      </p:sp>
      <p:sp>
        <p:nvSpPr>
          <p:cNvPr id="11" name="Text 9"/>
          <p:cNvSpPr/>
          <p:nvPr/>
        </p:nvSpPr>
        <p:spPr>
          <a:xfrm>
            <a:off x="886968" y="2532888"/>
            <a:ext cx="211226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Registrar estudiante</a:t>
            </a:r>
            <a:endParaRPr lang="en-US" sz="1600" dirty="0"/>
          </a:p>
        </p:txBody>
      </p:sp>
      <p:sp>
        <p:nvSpPr>
          <p:cNvPr id="12" name="Text 10"/>
          <p:cNvSpPr/>
          <p:nvPr/>
        </p:nvSpPr>
        <p:spPr>
          <a:xfrm>
            <a:off x="886968" y="2935224"/>
            <a:ext cx="2112264" cy="1316736"/>
          </a:xfrm>
          <a:prstGeom prst="rect">
            <a:avLst/>
          </a:prstGeom>
          <a:noFill/>
          <a:ln/>
        </p:spPr>
        <p:txBody>
          <a:bodyPr wrap="square" lIns="254" tIns="254" rIns="254" bIns="254" rtlCol="0" anchor="t">
            <a:normAutofit/>
          </a:bodyPr>
          <a:lstStyle/>
          <a:p>
            <a:pPr marL="0" indent="0">
              <a:buNone/>
            </a:pPr>
            <a:r>
              <a:rPr lang="en-US" sz="1600" dirty="0">
                <a:solidFill>
                  <a:srgbClr val="D8D5FF"/>
                </a:solidFill>
              </a:rPr>
              <a:t>Academic guarda y publica StudentEnrolled.</a:t>
            </a:r>
            <a:endParaRPr lang="en-US" sz="1600" dirty="0"/>
          </a:p>
        </p:txBody>
      </p:sp>
      <p:sp>
        <p:nvSpPr>
          <p:cNvPr id="13" name="Shape 11"/>
          <p:cNvSpPr/>
          <p:nvPr/>
        </p:nvSpPr>
        <p:spPr>
          <a:xfrm>
            <a:off x="2359152" y="1673352"/>
            <a:ext cx="1069848" cy="0"/>
          </a:xfrm>
          <a:prstGeom prst="line">
            <a:avLst/>
          </a:prstGeom>
          <a:noFill/>
          <a:ln w="20320">
            <a:solidFill>
              <a:srgbClr val="5045A8"/>
            </a:solidFill>
            <a:prstDash val="solid"/>
            <a:tailEnd type="triangle"/>
          </a:ln>
        </p:spPr>
        <p:txBody>
          <a:bodyPr/>
          <a:lstStyle/>
          <a:p>
            <a:endParaRPr lang="es-ES"/>
          </a:p>
        </p:txBody>
      </p:sp>
      <p:sp>
        <p:nvSpPr>
          <p:cNvPr id="14" name="Shape 12"/>
          <p:cNvSpPr/>
          <p:nvPr/>
        </p:nvSpPr>
        <p:spPr>
          <a:xfrm>
            <a:off x="4389120" y="1335024"/>
            <a:ext cx="685800" cy="685800"/>
          </a:xfrm>
          <a:prstGeom prst="ellipse">
            <a:avLst/>
          </a:prstGeom>
          <a:solidFill>
            <a:srgbClr val="21175F"/>
          </a:solidFill>
          <a:ln w="12700">
            <a:solidFill>
              <a:srgbClr val="22D3EE"/>
            </a:solidFill>
            <a:prstDash val="solid"/>
          </a:ln>
        </p:spPr>
        <p:txBody>
          <a:bodyPr/>
          <a:lstStyle/>
          <a:p>
            <a:endParaRPr lang="es-ES"/>
          </a:p>
        </p:txBody>
      </p:sp>
      <p:sp>
        <p:nvSpPr>
          <p:cNvPr id="15" name="Text 13"/>
          <p:cNvSpPr/>
          <p:nvPr/>
        </p:nvSpPr>
        <p:spPr>
          <a:xfrm>
            <a:off x="4434840" y="1536192"/>
            <a:ext cx="685800" cy="146304"/>
          </a:xfrm>
          <a:prstGeom prst="rect">
            <a:avLst/>
          </a:prstGeom>
          <a:noFill/>
          <a:ln/>
        </p:spPr>
        <p:txBody>
          <a:bodyPr wrap="square" lIns="0" tIns="0" rIns="0" bIns="0" rtlCol="0" anchor="ctr"/>
          <a:lstStyle/>
          <a:p>
            <a:pPr marL="0" indent="0" algn="ctr">
              <a:buNone/>
            </a:pPr>
            <a:r>
              <a:rPr lang="en-US" b="1" dirty="0">
                <a:solidFill>
                  <a:srgbClr val="FFFFFF"/>
                </a:solidFill>
              </a:rPr>
              <a:t>2</a:t>
            </a:r>
            <a:endParaRPr lang="en-US" dirty="0"/>
          </a:p>
        </p:txBody>
      </p:sp>
      <p:sp>
        <p:nvSpPr>
          <p:cNvPr id="16" name="Shape 14"/>
          <p:cNvSpPr/>
          <p:nvPr/>
        </p:nvSpPr>
        <p:spPr>
          <a:xfrm>
            <a:off x="3474720" y="2331720"/>
            <a:ext cx="2514600" cy="2084832"/>
          </a:xfrm>
          <a:prstGeom prst="roundRect">
            <a:avLst>
              <a:gd name="adj" fmla="val 3509"/>
            </a:avLst>
          </a:prstGeom>
          <a:solidFill>
            <a:srgbClr val="17124A"/>
          </a:solidFill>
          <a:ln w="12700">
            <a:solidFill>
              <a:srgbClr val="5045A8">
                <a:alpha val="95000"/>
              </a:srgbClr>
            </a:solidFill>
            <a:prstDash val="solid"/>
          </a:ln>
        </p:spPr>
        <p:txBody>
          <a:bodyPr/>
          <a:lstStyle/>
          <a:p>
            <a:endParaRPr lang="es-ES"/>
          </a:p>
        </p:txBody>
      </p:sp>
      <p:sp>
        <p:nvSpPr>
          <p:cNvPr id="17" name="Text 15"/>
          <p:cNvSpPr/>
          <p:nvPr/>
        </p:nvSpPr>
        <p:spPr>
          <a:xfrm>
            <a:off x="3675888" y="2532888"/>
            <a:ext cx="211226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Confirmar pago</a:t>
            </a:r>
            <a:endParaRPr lang="en-US" sz="1600" dirty="0"/>
          </a:p>
        </p:txBody>
      </p:sp>
      <p:sp>
        <p:nvSpPr>
          <p:cNvPr id="18" name="Text 16"/>
          <p:cNvSpPr/>
          <p:nvPr/>
        </p:nvSpPr>
        <p:spPr>
          <a:xfrm>
            <a:off x="3675888" y="2935224"/>
            <a:ext cx="2112264" cy="1316736"/>
          </a:xfrm>
          <a:prstGeom prst="rect">
            <a:avLst/>
          </a:prstGeom>
          <a:noFill/>
          <a:ln/>
        </p:spPr>
        <p:txBody>
          <a:bodyPr wrap="square" lIns="254" tIns="254" rIns="254" bIns="254" rtlCol="0" anchor="t">
            <a:normAutofit/>
          </a:bodyPr>
          <a:lstStyle/>
          <a:p>
            <a:pPr marL="0" indent="0">
              <a:buNone/>
            </a:pPr>
            <a:r>
              <a:rPr lang="en-US" sz="1600" dirty="0">
                <a:solidFill>
                  <a:srgbClr val="D8D5FF"/>
                </a:solidFill>
              </a:rPr>
              <a:t>Payments publica PaymentConfirmed.</a:t>
            </a:r>
            <a:endParaRPr lang="en-US" sz="1600" dirty="0"/>
          </a:p>
        </p:txBody>
      </p:sp>
      <p:sp>
        <p:nvSpPr>
          <p:cNvPr id="19" name="Shape 17"/>
          <p:cNvSpPr/>
          <p:nvPr/>
        </p:nvSpPr>
        <p:spPr>
          <a:xfrm>
            <a:off x="5148072" y="1673352"/>
            <a:ext cx="1069848" cy="0"/>
          </a:xfrm>
          <a:prstGeom prst="line">
            <a:avLst/>
          </a:prstGeom>
          <a:noFill/>
          <a:ln w="20320">
            <a:solidFill>
              <a:srgbClr val="5045A8"/>
            </a:solidFill>
            <a:prstDash val="solid"/>
            <a:tailEnd type="triangle"/>
          </a:ln>
        </p:spPr>
        <p:txBody>
          <a:bodyPr/>
          <a:lstStyle/>
          <a:p>
            <a:endParaRPr lang="es-ES"/>
          </a:p>
        </p:txBody>
      </p:sp>
      <p:sp>
        <p:nvSpPr>
          <p:cNvPr id="20" name="Shape 18"/>
          <p:cNvSpPr/>
          <p:nvPr/>
        </p:nvSpPr>
        <p:spPr>
          <a:xfrm>
            <a:off x="7178040" y="1335024"/>
            <a:ext cx="685800" cy="685800"/>
          </a:xfrm>
          <a:prstGeom prst="ellipse">
            <a:avLst/>
          </a:prstGeom>
          <a:solidFill>
            <a:srgbClr val="21175F"/>
          </a:solidFill>
          <a:ln w="12700">
            <a:solidFill>
              <a:srgbClr val="22D3EE"/>
            </a:solidFill>
            <a:prstDash val="solid"/>
          </a:ln>
        </p:spPr>
        <p:txBody>
          <a:bodyPr/>
          <a:lstStyle/>
          <a:p>
            <a:endParaRPr lang="es-ES"/>
          </a:p>
        </p:txBody>
      </p:sp>
      <p:sp>
        <p:nvSpPr>
          <p:cNvPr id="21" name="Text 19"/>
          <p:cNvSpPr/>
          <p:nvPr/>
        </p:nvSpPr>
        <p:spPr>
          <a:xfrm>
            <a:off x="7223760" y="1536192"/>
            <a:ext cx="685800" cy="146304"/>
          </a:xfrm>
          <a:prstGeom prst="rect">
            <a:avLst/>
          </a:prstGeom>
          <a:noFill/>
          <a:ln/>
        </p:spPr>
        <p:txBody>
          <a:bodyPr wrap="square" lIns="0" tIns="0" rIns="0" bIns="0" rtlCol="0" anchor="ctr"/>
          <a:lstStyle/>
          <a:p>
            <a:pPr marL="0" indent="0" algn="ctr">
              <a:buNone/>
            </a:pPr>
            <a:r>
              <a:rPr lang="en-US" b="1" dirty="0">
                <a:solidFill>
                  <a:srgbClr val="FFFFFF"/>
                </a:solidFill>
              </a:rPr>
              <a:t>3</a:t>
            </a:r>
            <a:endParaRPr lang="en-US" dirty="0"/>
          </a:p>
        </p:txBody>
      </p:sp>
      <p:sp>
        <p:nvSpPr>
          <p:cNvPr id="22" name="Shape 20"/>
          <p:cNvSpPr/>
          <p:nvPr/>
        </p:nvSpPr>
        <p:spPr>
          <a:xfrm>
            <a:off x="6263640" y="2331720"/>
            <a:ext cx="2514600" cy="2084832"/>
          </a:xfrm>
          <a:prstGeom prst="roundRect">
            <a:avLst>
              <a:gd name="adj" fmla="val 3509"/>
            </a:avLst>
          </a:prstGeom>
          <a:solidFill>
            <a:srgbClr val="17124A"/>
          </a:solidFill>
          <a:ln w="12700">
            <a:solidFill>
              <a:srgbClr val="5045A8">
                <a:alpha val="95000"/>
              </a:srgbClr>
            </a:solidFill>
            <a:prstDash val="solid"/>
          </a:ln>
        </p:spPr>
        <p:txBody>
          <a:bodyPr/>
          <a:lstStyle/>
          <a:p>
            <a:endParaRPr lang="es-ES"/>
          </a:p>
        </p:txBody>
      </p:sp>
      <p:sp>
        <p:nvSpPr>
          <p:cNvPr id="23" name="Text 21"/>
          <p:cNvSpPr/>
          <p:nvPr/>
        </p:nvSpPr>
        <p:spPr>
          <a:xfrm>
            <a:off x="6464808" y="2532888"/>
            <a:ext cx="211226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Reaccionan consumidores</a:t>
            </a:r>
            <a:endParaRPr lang="en-US" sz="1600" dirty="0"/>
          </a:p>
        </p:txBody>
      </p:sp>
      <p:sp>
        <p:nvSpPr>
          <p:cNvPr id="24" name="Text 22"/>
          <p:cNvSpPr/>
          <p:nvPr/>
        </p:nvSpPr>
        <p:spPr>
          <a:xfrm>
            <a:off x="6464808" y="2935224"/>
            <a:ext cx="2112264" cy="1316736"/>
          </a:xfrm>
          <a:prstGeom prst="rect">
            <a:avLst/>
          </a:prstGeom>
          <a:noFill/>
          <a:ln/>
        </p:spPr>
        <p:txBody>
          <a:bodyPr wrap="square" lIns="254" tIns="254" rIns="254" bIns="254" rtlCol="0" anchor="t">
            <a:normAutofit/>
          </a:bodyPr>
          <a:lstStyle/>
          <a:p>
            <a:pPr marL="0" indent="0">
              <a:buNone/>
            </a:pPr>
            <a:r>
              <a:rPr lang="en-US" sz="1600" dirty="0">
                <a:solidFill>
                  <a:srgbClr val="D8D5FF"/>
                </a:solidFill>
              </a:rPr>
              <a:t>Academic actualiza estado; Notifications y Analytics registran.</a:t>
            </a:r>
            <a:endParaRPr lang="en-US" sz="1600" dirty="0"/>
          </a:p>
        </p:txBody>
      </p:sp>
      <p:sp>
        <p:nvSpPr>
          <p:cNvPr id="25" name="Shape 23"/>
          <p:cNvSpPr/>
          <p:nvPr/>
        </p:nvSpPr>
        <p:spPr>
          <a:xfrm>
            <a:off x="7936992" y="1673352"/>
            <a:ext cx="1069848" cy="0"/>
          </a:xfrm>
          <a:prstGeom prst="line">
            <a:avLst/>
          </a:prstGeom>
          <a:noFill/>
          <a:ln w="20320">
            <a:solidFill>
              <a:srgbClr val="5045A8"/>
            </a:solidFill>
            <a:prstDash val="solid"/>
            <a:tailEnd type="triangle"/>
          </a:ln>
        </p:spPr>
        <p:txBody>
          <a:bodyPr/>
          <a:lstStyle/>
          <a:p>
            <a:endParaRPr lang="es-ES"/>
          </a:p>
        </p:txBody>
      </p:sp>
      <p:sp>
        <p:nvSpPr>
          <p:cNvPr id="26" name="Shape 24"/>
          <p:cNvSpPr/>
          <p:nvPr/>
        </p:nvSpPr>
        <p:spPr>
          <a:xfrm>
            <a:off x="10012680" y="1335024"/>
            <a:ext cx="685800" cy="685800"/>
          </a:xfrm>
          <a:prstGeom prst="ellipse">
            <a:avLst/>
          </a:prstGeom>
          <a:solidFill>
            <a:srgbClr val="21175F"/>
          </a:solidFill>
          <a:ln w="12700">
            <a:solidFill>
              <a:srgbClr val="22D3EE"/>
            </a:solidFill>
            <a:prstDash val="solid"/>
          </a:ln>
        </p:spPr>
        <p:txBody>
          <a:bodyPr/>
          <a:lstStyle/>
          <a:p>
            <a:endParaRPr lang="es-ES"/>
          </a:p>
        </p:txBody>
      </p:sp>
      <p:sp>
        <p:nvSpPr>
          <p:cNvPr id="27" name="Text 25"/>
          <p:cNvSpPr/>
          <p:nvPr/>
        </p:nvSpPr>
        <p:spPr>
          <a:xfrm>
            <a:off x="10012680" y="1536192"/>
            <a:ext cx="685800" cy="146304"/>
          </a:xfrm>
          <a:prstGeom prst="rect">
            <a:avLst/>
          </a:prstGeom>
          <a:noFill/>
          <a:ln/>
        </p:spPr>
        <p:txBody>
          <a:bodyPr wrap="square" lIns="0" tIns="0" rIns="0" bIns="0" rtlCol="0" anchor="ctr"/>
          <a:lstStyle/>
          <a:p>
            <a:pPr marL="0" indent="0" algn="ctr">
              <a:buNone/>
            </a:pPr>
            <a:r>
              <a:rPr lang="en-US" b="1" dirty="0">
                <a:solidFill>
                  <a:srgbClr val="FFFFFF"/>
                </a:solidFill>
              </a:rPr>
              <a:t>4</a:t>
            </a:r>
            <a:endParaRPr lang="en-US" dirty="0"/>
          </a:p>
        </p:txBody>
      </p:sp>
      <p:sp>
        <p:nvSpPr>
          <p:cNvPr id="28" name="Shape 26"/>
          <p:cNvSpPr/>
          <p:nvPr/>
        </p:nvSpPr>
        <p:spPr>
          <a:xfrm>
            <a:off x="9052560" y="2331720"/>
            <a:ext cx="2514600" cy="2084832"/>
          </a:xfrm>
          <a:prstGeom prst="roundRect">
            <a:avLst>
              <a:gd name="adj" fmla="val 3509"/>
            </a:avLst>
          </a:prstGeom>
          <a:solidFill>
            <a:srgbClr val="17124A"/>
          </a:solidFill>
          <a:ln w="12700">
            <a:solidFill>
              <a:srgbClr val="5045A8">
                <a:alpha val="95000"/>
              </a:srgbClr>
            </a:solidFill>
            <a:prstDash val="solid"/>
          </a:ln>
        </p:spPr>
        <p:txBody>
          <a:bodyPr/>
          <a:lstStyle/>
          <a:p>
            <a:endParaRPr lang="es-ES"/>
          </a:p>
        </p:txBody>
      </p:sp>
      <p:sp>
        <p:nvSpPr>
          <p:cNvPr id="29" name="Text 27"/>
          <p:cNvSpPr/>
          <p:nvPr/>
        </p:nvSpPr>
        <p:spPr>
          <a:xfrm>
            <a:off x="9253728" y="2532888"/>
            <a:ext cx="211226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Validar dashboard</a:t>
            </a:r>
            <a:endParaRPr lang="en-US" sz="1600" dirty="0"/>
          </a:p>
        </p:txBody>
      </p:sp>
      <p:sp>
        <p:nvSpPr>
          <p:cNvPr id="30" name="Text 28"/>
          <p:cNvSpPr/>
          <p:nvPr/>
        </p:nvSpPr>
        <p:spPr>
          <a:xfrm>
            <a:off x="9253728" y="2935224"/>
            <a:ext cx="2112264" cy="1316736"/>
          </a:xfrm>
          <a:prstGeom prst="rect">
            <a:avLst/>
          </a:prstGeom>
          <a:noFill/>
          <a:ln/>
        </p:spPr>
        <p:txBody>
          <a:bodyPr wrap="square" lIns="254" tIns="254" rIns="254" bIns="254" rtlCol="0" anchor="t">
            <a:normAutofit/>
          </a:bodyPr>
          <a:lstStyle/>
          <a:p>
            <a:pPr marL="0" indent="0">
              <a:buNone/>
            </a:pPr>
            <a:r>
              <a:rPr lang="en-US" sz="1600" dirty="0">
                <a:solidFill>
                  <a:srgbClr val="D8D5FF"/>
                </a:solidFill>
              </a:rPr>
              <a:t>Se visualizan métricas y eventos procesados.</a:t>
            </a:r>
            <a:endParaRPr lang="en-US" sz="1600" dirty="0"/>
          </a:p>
        </p:txBody>
      </p:sp>
      <p:sp>
        <p:nvSpPr>
          <p:cNvPr id="37" name="Text 35"/>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38" name="Text 36"/>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sz="1600"/>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6. Plan de trabajo y metodología</a:t>
            </a:r>
            <a:endParaRPr lang="en-US" sz="1600"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sz="1600" dirty="0">
                <a:solidFill>
                  <a:srgbClr val="A9A3D7"/>
                </a:solidFill>
              </a:rPr>
              <a:t>Aplicación ágil con entregables verificables por integración</a:t>
            </a:r>
            <a:endParaRPr lang="en-US" sz="1600" dirty="0"/>
          </a:p>
        </p:txBody>
      </p:sp>
      <p:sp>
        <p:nvSpPr>
          <p:cNvPr id="8" name="Shape 6"/>
          <p:cNvSpPr/>
          <p:nvPr/>
        </p:nvSpPr>
        <p:spPr>
          <a:xfrm>
            <a:off x="731520" y="1325880"/>
            <a:ext cx="1234440" cy="530352"/>
          </a:xfrm>
          <a:prstGeom prst="roundRect">
            <a:avLst>
              <a:gd name="adj" fmla="val 13793"/>
            </a:avLst>
          </a:prstGeom>
          <a:solidFill>
            <a:srgbClr val="7C3AED"/>
          </a:solidFill>
          <a:ln w="12700">
            <a:solidFill>
              <a:srgbClr val="22D3EE">
                <a:alpha val="75000"/>
              </a:srgbClr>
            </a:solidFill>
            <a:prstDash val="solid"/>
          </a:ln>
        </p:spPr>
        <p:txBody>
          <a:bodyPr/>
          <a:lstStyle/>
          <a:p>
            <a:endParaRPr lang="es-ES" sz="1600"/>
          </a:p>
        </p:txBody>
      </p:sp>
      <p:sp>
        <p:nvSpPr>
          <p:cNvPr id="9" name="Text 7"/>
          <p:cNvSpPr/>
          <p:nvPr/>
        </p:nvSpPr>
        <p:spPr>
          <a:xfrm>
            <a:off x="868680" y="1490472"/>
            <a:ext cx="960120" cy="146304"/>
          </a:xfrm>
          <a:prstGeom prst="rect">
            <a:avLst/>
          </a:prstGeom>
          <a:noFill/>
          <a:ln/>
        </p:spPr>
        <p:txBody>
          <a:bodyPr wrap="square" lIns="0" tIns="0" rIns="0" bIns="0" rtlCol="0" anchor="ctr"/>
          <a:lstStyle/>
          <a:p>
            <a:pPr marL="0" indent="0" algn="ctr">
              <a:buNone/>
            </a:pPr>
            <a:r>
              <a:rPr lang="en-US" sz="1600" b="1" dirty="0">
                <a:solidFill>
                  <a:srgbClr val="FFFFFF"/>
                </a:solidFill>
              </a:rPr>
              <a:t>Sprint 1</a:t>
            </a:r>
            <a:endParaRPr lang="en-US" sz="1600" dirty="0"/>
          </a:p>
        </p:txBody>
      </p:sp>
      <p:sp>
        <p:nvSpPr>
          <p:cNvPr id="10" name="Text 8"/>
          <p:cNvSpPr/>
          <p:nvPr/>
        </p:nvSpPr>
        <p:spPr>
          <a:xfrm>
            <a:off x="2240280" y="1371600"/>
            <a:ext cx="2743200" cy="256032"/>
          </a:xfrm>
          <a:prstGeom prst="rect">
            <a:avLst/>
          </a:prstGeom>
          <a:noFill/>
          <a:ln/>
        </p:spPr>
        <p:txBody>
          <a:bodyPr wrap="square" lIns="0" tIns="0" rIns="0" bIns="0" rtlCol="0" anchor="ctr"/>
          <a:lstStyle/>
          <a:p>
            <a:pPr marL="0" indent="0">
              <a:buNone/>
            </a:pPr>
            <a:r>
              <a:rPr lang="en-US" sz="1600" b="1" dirty="0">
                <a:solidFill>
                  <a:srgbClr val="FFFFFF"/>
                </a:solidFill>
              </a:rPr>
              <a:t>Infraestructura base</a:t>
            </a:r>
            <a:endParaRPr lang="en-US" sz="1600" dirty="0"/>
          </a:p>
        </p:txBody>
      </p:sp>
      <p:sp>
        <p:nvSpPr>
          <p:cNvPr id="11" name="Text 9"/>
          <p:cNvSpPr/>
          <p:nvPr/>
        </p:nvSpPr>
        <p:spPr>
          <a:xfrm>
            <a:off x="2240280" y="1709928"/>
            <a:ext cx="7223760" cy="201168"/>
          </a:xfrm>
          <a:prstGeom prst="rect">
            <a:avLst/>
          </a:prstGeom>
          <a:noFill/>
          <a:ln/>
        </p:spPr>
        <p:txBody>
          <a:bodyPr wrap="square" lIns="0" tIns="0" rIns="0" bIns="0" rtlCol="0" anchor="ctr"/>
          <a:lstStyle/>
          <a:p>
            <a:pPr marL="0" indent="0">
              <a:buNone/>
            </a:pPr>
            <a:r>
              <a:rPr lang="en-US" sz="1600" dirty="0">
                <a:solidFill>
                  <a:srgbClr val="D8D5FF"/>
                </a:solidFill>
              </a:rPr>
              <a:t>Docker Compose, Kong, BD por servicio, health checks.</a:t>
            </a:r>
            <a:endParaRPr lang="en-US" sz="1600" dirty="0"/>
          </a:p>
        </p:txBody>
      </p:sp>
      <p:sp>
        <p:nvSpPr>
          <p:cNvPr id="12" name="Shape 10"/>
          <p:cNvSpPr/>
          <p:nvPr/>
        </p:nvSpPr>
        <p:spPr>
          <a:xfrm>
            <a:off x="1353312" y="1920240"/>
            <a:ext cx="0" cy="393192"/>
          </a:xfrm>
          <a:prstGeom prst="line">
            <a:avLst/>
          </a:prstGeom>
          <a:noFill/>
          <a:ln w="16510">
            <a:solidFill>
              <a:srgbClr val="5045A8"/>
            </a:solidFill>
            <a:prstDash val="solid"/>
            <a:tailEnd type="triangle"/>
          </a:ln>
        </p:spPr>
        <p:txBody>
          <a:bodyPr/>
          <a:lstStyle/>
          <a:p>
            <a:endParaRPr lang="es-ES" sz="1600"/>
          </a:p>
        </p:txBody>
      </p:sp>
      <p:sp>
        <p:nvSpPr>
          <p:cNvPr id="13" name="Shape 11"/>
          <p:cNvSpPr/>
          <p:nvPr/>
        </p:nvSpPr>
        <p:spPr>
          <a:xfrm>
            <a:off x="731520" y="2404872"/>
            <a:ext cx="1234440" cy="530352"/>
          </a:xfrm>
          <a:prstGeom prst="roundRect">
            <a:avLst>
              <a:gd name="adj" fmla="val 13793"/>
            </a:avLst>
          </a:prstGeom>
          <a:solidFill>
            <a:srgbClr val="21175F"/>
          </a:solidFill>
          <a:ln w="12700">
            <a:solidFill>
              <a:srgbClr val="22D3EE">
                <a:alpha val="75000"/>
              </a:srgbClr>
            </a:solidFill>
            <a:prstDash val="solid"/>
          </a:ln>
        </p:spPr>
        <p:txBody>
          <a:bodyPr/>
          <a:lstStyle/>
          <a:p>
            <a:endParaRPr lang="es-ES" sz="1600"/>
          </a:p>
        </p:txBody>
      </p:sp>
      <p:sp>
        <p:nvSpPr>
          <p:cNvPr id="14" name="Text 12"/>
          <p:cNvSpPr/>
          <p:nvPr/>
        </p:nvSpPr>
        <p:spPr>
          <a:xfrm>
            <a:off x="868680" y="2569464"/>
            <a:ext cx="960120" cy="146304"/>
          </a:xfrm>
          <a:prstGeom prst="rect">
            <a:avLst/>
          </a:prstGeom>
          <a:noFill/>
          <a:ln/>
        </p:spPr>
        <p:txBody>
          <a:bodyPr wrap="square" lIns="0" tIns="0" rIns="0" bIns="0" rtlCol="0" anchor="ctr"/>
          <a:lstStyle/>
          <a:p>
            <a:pPr marL="0" indent="0" algn="ctr">
              <a:buNone/>
            </a:pPr>
            <a:r>
              <a:rPr lang="en-US" sz="1600" b="1" dirty="0">
                <a:solidFill>
                  <a:srgbClr val="FFFFFF"/>
                </a:solidFill>
              </a:rPr>
              <a:t>Sprint 2</a:t>
            </a:r>
            <a:endParaRPr lang="en-US" sz="1600" dirty="0"/>
          </a:p>
        </p:txBody>
      </p:sp>
      <p:sp>
        <p:nvSpPr>
          <p:cNvPr id="15" name="Text 13"/>
          <p:cNvSpPr/>
          <p:nvPr/>
        </p:nvSpPr>
        <p:spPr>
          <a:xfrm>
            <a:off x="2240280" y="2450592"/>
            <a:ext cx="2743200" cy="256032"/>
          </a:xfrm>
          <a:prstGeom prst="rect">
            <a:avLst/>
          </a:prstGeom>
          <a:noFill/>
          <a:ln/>
        </p:spPr>
        <p:txBody>
          <a:bodyPr wrap="square" lIns="0" tIns="0" rIns="0" bIns="0" rtlCol="0" anchor="ctr"/>
          <a:lstStyle/>
          <a:p>
            <a:pPr marL="0" indent="0">
              <a:buNone/>
            </a:pPr>
            <a:r>
              <a:rPr lang="en-US" sz="1600" b="1" dirty="0">
                <a:solidFill>
                  <a:srgbClr val="FFFFFF"/>
                </a:solidFill>
              </a:rPr>
              <a:t>Dominios core</a:t>
            </a:r>
            <a:endParaRPr lang="en-US" sz="1600" dirty="0"/>
          </a:p>
        </p:txBody>
      </p:sp>
      <p:sp>
        <p:nvSpPr>
          <p:cNvPr id="16" name="Text 14"/>
          <p:cNvSpPr/>
          <p:nvPr/>
        </p:nvSpPr>
        <p:spPr>
          <a:xfrm>
            <a:off x="2240280" y="2788920"/>
            <a:ext cx="7223760" cy="201168"/>
          </a:xfrm>
          <a:prstGeom prst="rect">
            <a:avLst/>
          </a:prstGeom>
          <a:noFill/>
          <a:ln/>
        </p:spPr>
        <p:txBody>
          <a:bodyPr wrap="square" lIns="0" tIns="0" rIns="0" bIns="0" rtlCol="0" anchor="ctr"/>
          <a:lstStyle/>
          <a:p>
            <a:pPr marL="0" indent="0">
              <a:buNone/>
            </a:pPr>
            <a:r>
              <a:rPr lang="en-US" sz="1600" dirty="0">
                <a:solidFill>
                  <a:srgbClr val="D8D5FF"/>
                </a:solidFill>
              </a:rPr>
              <a:t>CRUD académico, pagos y bienestar con APIs REST.</a:t>
            </a:r>
            <a:endParaRPr lang="en-US" sz="1600" dirty="0"/>
          </a:p>
        </p:txBody>
      </p:sp>
      <p:sp>
        <p:nvSpPr>
          <p:cNvPr id="17" name="Shape 15"/>
          <p:cNvSpPr/>
          <p:nvPr/>
        </p:nvSpPr>
        <p:spPr>
          <a:xfrm>
            <a:off x="1353312" y="2999232"/>
            <a:ext cx="0" cy="393192"/>
          </a:xfrm>
          <a:prstGeom prst="line">
            <a:avLst/>
          </a:prstGeom>
          <a:noFill/>
          <a:ln w="16510">
            <a:solidFill>
              <a:srgbClr val="5045A8"/>
            </a:solidFill>
            <a:prstDash val="solid"/>
            <a:tailEnd type="triangle"/>
          </a:ln>
        </p:spPr>
        <p:txBody>
          <a:bodyPr/>
          <a:lstStyle/>
          <a:p>
            <a:endParaRPr lang="es-ES" sz="1600"/>
          </a:p>
        </p:txBody>
      </p:sp>
      <p:sp>
        <p:nvSpPr>
          <p:cNvPr id="18" name="Shape 16"/>
          <p:cNvSpPr/>
          <p:nvPr/>
        </p:nvSpPr>
        <p:spPr>
          <a:xfrm>
            <a:off x="731520" y="3483864"/>
            <a:ext cx="1234440" cy="530352"/>
          </a:xfrm>
          <a:prstGeom prst="roundRect">
            <a:avLst>
              <a:gd name="adj" fmla="val 13793"/>
            </a:avLst>
          </a:prstGeom>
          <a:solidFill>
            <a:srgbClr val="21175F"/>
          </a:solidFill>
          <a:ln w="12700">
            <a:solidFill>
              <a:srgbClr val="22D3EE">
                <a:alpha val="75000"/>
              </a:srgbClr>
            </a:solidFill>
            <a:prstDash val="solid"/>
          </a:ln>
        </p:spPr>
        <p:txBody>
          <a:bodyPr/>
          <a:lstStyle/>
          <a:p>
            <a:endParaRPr lang="es-ES" sz="1600"/>
          </a:p>
        </p:txBody>
      </p:sp>
      <p:sp>
        <p:nvSpPr>
          <p:cNvPr id="19" name="Text 17"/>
          <p:cNvSpPr/>
          <p:nvPr/>
        </p:nvSpPr>
        <p:spPr>
          <a:xfrm>
            <a:off x="868680" y="3648456"/>
            <a:ext cx="960120" cy="146304"/>
          </a:xfrm>
          <a:prstGeom prst="rect">
            <a:avLst/>
          </a:prstGeom>
          <a:noFill/>
          <a:ln/>
        </p:spPr>
        <p:txBody>
          <a:bodyPr wrap="square" lIns="0" tIns="0" rIns="0" bIns="0" rtlCol="0" anchor="ctr"/>
          <a:lstStyle/>
          <a:p>
            <a:pPr marL="0" indent="0" algn="ctr">
              <a:buNone/>
            </a:pPr>
            <a:r>
              <a:rPr lang="en-US" sz="1600" b="1" dirty="0">
                <a:solidFill>
                  <a:srgbClr val="FFFFFF"/>
                </a:solidFill>
              </a:rPr>
              <a:t>Sprint 3</a:t>
            </a:r>
            <a:endParaRPr lang="en-US" sz="1600" dirty="0"/>
          </a:p>
        </p:txBody>
      </p:sp>
      <p:sp>
        <p:nvSpPr>
          <p:cNvPr id="20" name="Text 18"/>
          <p:cNvSpPr/>
          <p:nvPr/>
        </p:nvSpPr>
        <p:spPr>
          <a:xfrm>
            <a:off x="2240280" y="3529584"/>
            <a:ext cx="2743200" cy="256032"/>
          </a:xfrm>
          <a:prstGeom prst="rect">
            <a:avLst/>
          </a:prstGeom>
          <a:noFill/>
          <a:ln/>
        </p:spPr>
        <p:txBody>
          <a:bodyPr wrap="square" lIns="0" tIns="0" rIns="0" bIns="0" rtlCol="0" anchor="ctr"/>
          <a:lstStyle/>
          <a:p>
            <a:pPr marL="0" indent="0">
              <a:buNone/>
            </a:pPr>
            <a:r>
              <a:rPr lang="en-US" sz="1600" b="1" dirty="0">
                <a:solidFill>
                  <a:srgbClr val="FFFFFF"/>
                </a:solidFill>
              </a:rPr>
              <a:t>Eventos e integración</a:t>
            </a:r>
            <a:endParaRPr lang="en-US" sz="1600" dirty="0"/>
          </a:p>
        </p:txBody>
      </p:sp>
      <p:sp>
        <p:nvSpPr>
          <p:cNvPr id="21" name="Text 19"/>
          <p:cNvSpPr/>
          <p:nvPr/>
        </p:nvSpPr>
        <p:spPr>
          <a:xfrm>
            <a:off x="2240280" y="3867912"/>
            <a:ext cx="7223760" cy="201168"/>
          </a:xfrm>
          <a:prstGeom prst="rect">
            <a:avLst/>
          </a:prstGeom>
          <a:noFill/>
          <a:ln/>
        </p:spPr>
        <p:txBody>
          <a:bodyPr wrap="square" lIns="0" tIns="0" rIns="0" bIns="0" rtlCol="0" anchor="ctr"/>
          <a:lstStyle/>
          <a:p>
            <a:pPr marL="0" indent="0">
              <a:buNone/>
            </a:pPr>
            <a:r>
              <a:rPr lang="en-US" sz="1600" dirty="0">
                <a:solidFill>
                  <a:srgbClr val="D8D5FF"/>
                </a:solidFill>
              </a:rPr>
              <a:t>RabbitMQ, consumidores, idempotencia y DLQ.</a:t>
            </a:r>
            <a:endParaRPr lang="en-US" sz="1600" dirty="0"/>
          </a:p>
        </p:txBody>
      </p:sp>
      <p:sp>
        <p:nvSpPr>
          <p:cNvPr id="22" name="Shape 20"/>
          <p:cNvSpPr/>
          <p:nvPr/>
        </p:nvSpPr>
        <p:spPr>
          <a:xfrm>
            <a:off x="1353312" y="4078224"/>
            <a:ext cx="0" cy="393192"/>
          </a:xfrm>
          <a:prstGeom prst="line">
            <a:avLst/>
          </a:prstGeom>
          <a:noFill/>
          <a:ln w="16510">
            <a:solidFill>
              <a:srgbClr val="5045A8"/>
            </a:solidFill>
            <a:prstDash val="solid"/>
            <a:tailEnd type="triangle"/>
          </a:ln>
        </p:spPr>
        <p:txBody>
          <a:bodyPr/>
          <a:lstStyle/>
          <a:p>
            <a:endParaRPr lang="es-ES" sz="1600"/>
          </a:p>
        </p:txBody>
      </p:sp>
      <p:sp>
        <p:nvSpPr>
          <p:cNvPr id="23" name="Shape 21"/>
          <p:cNvSpPr/>
          <p:nvPr/>
        </p:nvSpPr>
        <p:spPr>
          <a:xfrm>
            <a:off x="731520" y="4562856"/>
            <a:ext cx="1234440" cy="530352"/>
          </a:xfrm>
          <a:prstGeom prst="roundRect">
            <a:avLst>
              <a:gd name="adj" fmla="val 13793"/>
            </a:avLst>
          </a:prstGeom>
          <a:solidFill>
            <a:srgbClr val="21175F"/>
          </a:solidFill>
          <a:ln w="12700">
            <a:solidFill>
              <a:srgbClr val="22D3EE">
                <a:alpha val="75000"/>
              </a:srgbClr>
            </a:solidFill>
            <a:prstDash val="solid"/>
          </a:ln>
        </p:spPr>
        <p:txBody>
          <a:bodyPr/>
          <a:lstStyle/>
          <a:p>
            <a:endParaRPr lang="es-ES" sz="1600"/>
          </a:p>
        </p:txBody>
      </p:sp>
      <p:sp>
        <p:nvSpPr>
          <p:cNvPr id="24" name="Text 22"/>
          <p:cNvSpPr/>
          <p:nvPr/>
        </p:nvSpPr>
        <p:spPr>
          <a:xfrm>
            <a:off x="868680" y="4727448"/>
            <a:ext cx="960120" cy="146304"/>
          </a:xfrm>
          <a:prstGeom prst="rect">
            <a:avLst/>
          </a:prstGeom>
          <a:noFill/>
          <a:ln/>
        </p:spPr>
        <p:txBody>
          <a:bodyPr wrap="square" lIns="0" tIns="0" rIns="0" bIns="0" rtlCol="0" anchor="ctr"/>
          <a:lstStyle/>
          <a:p>
            <a:pPr marL="0" indent="0" algn="ctr">
              <a:buNone/>
            </a:pPr>
            <a:r>
              <a:rPr lang="en-US" sz="1600" b="1" dirty="0">
                <a:solidFill>
                  <a:srgbClr val="FFFFFF"/>
                </a:solidFill>
              </a:rPr>
              <a:t>Sprint 4</a:t>
            </a:r>
            <a:endParaRPr lang="en-US" sz="1600" dirty="0"/>
          </a:p>
        </p:txBody>
      </p:sp>
      <p:sp>
        <p:nvSpPr>
          <p:cNvPr id="25" name="Text 23"/>
          <p:cNvSpPr/>
          <p:nvPr/>
        </p:nvSpPr>
        <p:spPr>
          <a:xfrm>
            <a:off x="2240280" y="4608576"/>
            <a:ext cx="2743200" cy="256032"/>
          </a:xfrm>
          <a:prstGeom prst="rect">
            <a:avLst/>
          </a:prstGeom>
          <a:noFill/>
          <a:ln/>
        </p:spPr>
        <p:txBody>
          <a:bodyPr wrap="square" lIns="0" tIns="0" rIns="0" bIns="0" rtlCol="0" anchor="ctr"/>
          <a:lstStyle/>
          <a:p>
            <a:pPr marL="0" indent="0">
              <a:buNone/>
            </a:pPr>
            <a:r>
              <a:rPr lang="en-US" sz="1600" b="1" dirty="0">
                <a:solidFill>
                  <a:srgbClr val="FFFFFF"/>
                </a:solidFill>
              </a:rPr>
              <a:t>Dashboard y validación</a:t>
            </a:r>
            <a:endParaRPr lang="en-US" sz="1600" dirty="0"/>
          </a:p>
        </p:txBody>
      </p:sp>
      <p:sp>
        <p:nvSpPr>
          <p:cNvPr id="26" name="Text 24"/>
          <p:cNvSpPr/>
          <p:nvPr/>
        </p:nvSpPr>
        <p:spPr>
          <a:xfrm>
            <a:off x="2240280" y="4946904"/>
            <a:ext cx="7223760" cy="201168"/>
          </a:xfrm>
          <a:prstGeom prst="rect">
            <a:avLst/>
          </a:prstGeom>
          <a:noFill/>
          <a:ln/>
        </p:spPr>
        <p:txBody>
          <a:bodyPr wrap="square" lIns="0" tIns="0" rIns="0" bIns="0" rtlCol="0" anchor="ctr"/>
          <a:lstStyle/>
          <a:p>
            <a:pPr marL="0" indent="0">
              <a:buNone/>
            </a:pPr>
            <a:r>
              <a:rPr lang="en-US" sz="1600" dirty="0">
                <a:solidFill>
                  <a:srgbClr val="D8D5FF"/>
                </a:solidFill>
              </a:rPr>
              <a:t>Analytics, notificaciones, pruebas y documentación.</a:t>
            </a:r>
            <a:endParaRPr lang="en-US" sz="1600" dirty="0"/>
          </a:p>
        </p:txBody>
      </p:sp>
      <p:sp>
        <p:nvSpPr>
          <p:cNvPr id="27" name="Shape 25"/>
          <p:cNvSpPr/>
          <p:nvPr/>
        </p:nvSpPr>
        <p:spPr>
          <a:xfrm>
            <a:off x="8360230" y="1298448"/>
            <a:ext cx="3252650" cy="3096270"/>
          </a:xfrm>
          <a:prstGeom prst="roundRect">
            <a:avLst>
              <a:gd name="adj" fmla="val 3556"/>
            </a:avLst>
          </a:prstGeom>
          <a:solidFill>
            <a:srgbClr val="21175F"/>
          </a:solidFill>
          <a:ln w="12700">
            <a:solidFill>
              <a:srgbClr val="5045A8">
                <a:alpha val="95000"/>
              </a:srgbClr>
            </a:solidFill>
            <a:prstDash val="solid"/>
          </a:ln>
        </p:spPr>
        <p:txBody>
          <a:bodyPr/>
          <a:lstStyle/>
          <a:p>
            <a:endParaRPr lang="es-ES" sz="1600"/>
          </a:p>
        </p:txBody>
      </p:sp>
      <p:sp>
        <p:nvSpPr>
          <p:cNvPr id="28" name="Text 26"/>
          <p:cNvSpPr/>
          <p:nvPr/>
        </p:nvSpPr>
        <p:spPr>
          <a:xfrm>
            <a:off x="8983980" y="1490472"/>
            <a:ext cx="1655064" cy="329184"/>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Responsabilidades</a:t>
            </a:r>
            <a:endParaRPr lang="en-US" sz="1600" dirty="0"/>
          </a:p>
        </p:txBody>
      </p:sp>
      <p:sp>
        <p:nvSpPr>
          <p:cNvPr id="29" name="Text 27"/>
          <p:cNvSpPr/>
          <p:nvPr/>
        </p:nvSpPr>
        <p:spPr>
          <a:xfrm>
            <a:off x="8696131" y="1901952"/>
            <a:ext cx="2715581" cy="3209544"/>
          </a:xfrm>
          <a:prstGeom prst="rect">
            <a:avLst/>
          </a:prstGeom>
          <a:noFill/>
          <a:ln/>
        </p:spPr>
        <p:txBody>
          <a:bodyPr wrap="square" lIns="254" tIns="254" rIns="254" bIns="254" rtlCol="0" anchor="t">
            <a:normAutofit/>
          </a:bodyPr>
          <a:lstStyle/>
          <a:p>
            <a:pPr marL="0" indent="0">
              <a:buNone/>
            </a:pPr>
            <a:r>
              <a:rPr lang="en-US" sz="1600" dirty="0">
                <a:solidFill>
                  <a:srgbClr val="D8D5FF"/>
                </a:solidFill>
              </a:rPr>
              <a:t>• Backend: servicios FastAPI</a:t>
            </a:r>
            <a:endParaRPr lang="en-US" sz="1600" dirty="0"/>
          </a:p>
          <a:p>
            <a:pPr marL="0" indent="0">
              <a:buNone/>
            </a:pPr>
            <a:r>
              <a:rPr lang="en-US" sz="1600" dirty="0">
                <a:solidFill>
                  <a:srgbClr val="D8D5FF"/>
                </a:solidFill>
              </a:rPr>
              <a:t>• Integración: eventos y colas</a:t>
            </a:r>
            <a:endParaRPr lang="en-US" sz="1600" dirty="0"/>
          </a:p>
          <a:p>
            <a:pPr marL="0" indent="0">
              <a:buNone/>
            </a:pPr>
            <a:r>
              <a:rPr lang="en-US" sz="1600" dirty="0">
                <a:solidFill>
                  <a:srgbClr val="D8D5FF"/>
                </a:solidFill>
              </a:rPr>
              <a:t>• Frontend: dashboard y módulos</a:t>
            </a:r>
            <a:endParaRPr lang="en-US" sz="1600" dirty="0"/>
          </a:p>
          <a:p>
            <a:pPr marL="0" indent="0">
              <a:buNone/>
            </a:pPr>
            <a:r>
              <a:rPr lang="en-US" sz="1600" dirty="0">
                <a:solidFill>
                  <a:srgbClr val="D8D5FF"/>
                </a:solidFill>
              </a:rPr>
              <a:t>• DevOps: Docker, Gateway y validación</a:t>
            </a:r>
            <a:endParaRPr lang="en-US" sz="1600" dirty="0"/>
          </a:p>
          <a:p>
            <a:pPr marL="0" indent="0">
              <a:buNone/>
            </a:pPr>
            <a:r>
              <a:rPr lang="en-US" sz="1600" dirty="0">
                <a:solidFill>
                  <a:srgbClr val="D8D5FF"/>
                </a:solidFill>
              </a:rPr>
              <a:t>• Documentación: ADR, eventos y guía de ejecución</a:t>
            </a:r>
            <a:endParaRPr lang="en-US" sz="1600" dirty="0"/>
          </a:p>
        </p:txBody>
      </p:sp>
      <p:sp>
        <p:nvSpPr>
          <p:cNvPr id="32" name="Text 30"/>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33" name="Text 31"/>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7. Implementación realizada</a:t>
            </a:r>
            <a:endParaRPr lang="en-US"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dirty="0">
                <a:solidFill>
                  <a:srgbClr val="A9A3D7"/>
                </a:solidFill>
              </a:rPr>
              <a:t>Componentes concretos construidos para cumplir los requisitos</a:t>
            </a:r>
            <a:endParaRPr lang="en-US" dirty="0"/>
          </a:p>
        </p:txBody>
      </p:sp>
      <p:sp>
        <p:nvSpPr>
          <p:cNvPr id="6" name="Shape 4"/>
          <p:cNvSpPr/>
          <p:nvPr/>
        </p:nvSpPr>
        <p:spPr>
          <a:xfrm>
            <a:off x="9555480" y="402336"/>
            <a:ext cx="2103120" cy="384048"/>
          </a:xfrm>
          <a:prstGeom prst="roundRect">
            <a:avLst>
              <a:gd name="adj" fmla="val 19048"/>
            </a:avLst>
          </a:prstGeom>
          <a:solidFill>
            <a:srgbClr val="21175F">
              <a:alpha val="95000"/>
            </a:srgbClr>
          </a:solidFill>
          <a:ln w="12700">
            <a:solidFill>
              <a:srgbClr val="5045A8">
                <a:alpha val="90000"/>
              </a:srgbClr>
            </a:solidFill>
            <a:prstDash val="solid"/>
          </a:ln>
        </p:spPr>
        <p:txBody>
          <a:bodyPr/>
          <a:lstStyle/>
          <a:p>
            <a:endParaRPr lang="es-ES"/>
          </a:p>
        </p:txBody>
      </p:sp>
      <p:sp>
        <p:nvSpPr>
          <p:cNvPr id="8" name="Shape 6"/>
          <p:cNvSpPr/>
          <p:nvPr/>
        </p:nvSpPr>
        <p:spPr>
          <a:xfrm>
            <a:off x="585216" y="1293596"/>
            <a:ext cx="5047488" cy="1248436"/>
          </a:xfrm>
          <a:prstGeom prst="roundRect">
            <a:avLst>
              <a:gd name="adj" fmla="val 6780"/>
            </a:avLst>
          </a:prstGeom>
          <a:solidFill>
            <a:srgbClr val="17124A"/>
          </a:solidFill>
          <a:ln w="12700">
            <a:solidFill>
              <a:srgbClr val="5045A8">
                <a:alpha val="95000"/>
              </a:srgbClr>
            </a:solidFill>
            <a:prstDash val="solid"/>
          </a:ln>
        </p:spPr>
        <p:txBody>
          <a:bodyPr/>
          <a:lstStyle/>
          <a:p>
            <a:endParaRPr lang="es-ES"/>
          </a:p>
        </p:txBody>
      </p:sp>
      <p:sp>
        <p:nvSpPr>
          <p:cNvPr id="9" name="Text 7"/>
          <p:cNvSpPr/>
          <p:nvPr/>
        </p:nvSpPr>
        <p:spPr>
          <a:xfrm>
            <a:off x="786384" y="1324574"/>
            <a:ext cx="464515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Frontend</a:t>
            </a:r>
            <a:endParaRPr lang="en-US" dirty="0"/>
          </a:p>
        </p:txBody>
      </p:sp>
      <p:sp>
        <p:nvSpPr>
          <p:cNvPr id="10" name="Text 8"/>
          <p:cNvSpPr/>
          <p:nvPr/>
        </p:nvSpPr>
        <p:spPr>
          <a:xfrm>
            <a:off x="697930" y="1617182"/>
            <a:ext cx="4645152" cy="310896"/>
          </a:xfrm>
          <a:prstGeom prst="rect">
            <a:avLst/>
          </a:prstGeom>
          <a:noFill/>
          <a:ln/>
        </p:spPr>
        <p:txBody>
          <a:bodyPr wrap="square" lIns="254" tIns="254" rIns="254" bIns="254" rtlCol="0" anchor="t">
            <a:noAutofit/>
          </a:bodyPr>
          <a:lstStyle/>
          <a:p>
            <a:pPr marL="0" indent="0">
              <a:buNone/>
            </a:pPr>
            <a:r>
              <a:rPr lang="en-US" dirty="0">
                <a:solidFill>
                  <a:srgbClr val="D8D5FF"/>
                </a:solidFill>
              </a:rPr>
              <a:t>React + Vite con rutas para dashboard, estudiantes, pagos, asistencia, incidentes y notificaciones.</a:t>
            </a:r>
            <a:endParaRPr lang="en-US" dirty="0"/>
          </a:p>
        </p:txBody>
      </p:sp>
      <p:sp>
        <p:nvSpPr>
          <p:cNvPr id="11" name="Shape 9"/>
          <p:cNvSpPr/>
          <p:nvPr/>
        </p:nvSpPr>
        <p:spPr>
          <a:xfrm>
            <a:off x="6217920" y="1270083"/>
            <a:ext cx="5047488" cy="1078992"/>
          </a:xfrm>
          <a:prstGeom prst="roundRect">
            <a:avLst>
              <a:gd name="adj" fmla="val 6780"/>
            </a:avLst>
          </a:prstGeom>
          <a:solidFill>
            <a:srgbClr val="21175F"/>
          </a:solidFill>
          <a:ln w="12700">
            <a:solidFill>
              <a:srgbClr val="5045A8">
                <a:alpha val="95000"/>
              </a:srgbClr>
            </a:solidFill>
            <a:prstDash val="solid"/>
          </a:ln>
        </p:spPr>
        <p:txBody>
          <a:bodyPr/>
          <a:lstStyle/>
          <a:p>
            <a:endParaRPr lang="es-ES"/>
          </a:p>
        </p:txBody>
      </p:sp>
      <p:sp>
        <p:nvSpPr>
          <p:cNvPr id="12" name="Text 10"/>
          <p:cNvSpPr/>
          <p:nvPr/>
        </p:nvSpPr>
        <p:spPr>
          <a:xfrm>
            <a:off x="6419088" y="1426464"/>
            <a:ext cx="464515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Gateway</a:t>
            </a:r>
            <a:endParaRPr lang="en-US" dirty="0"/>
          </a:p>
        </p:txBody>
      </p:sp>
      <p:sp>
        <p:nvSpPr>
          <p:cNvPr id="13" name="Text 11"/>
          <p:cNvSpPr/>
          <p:nvPr/>
        </p:nvSpPr>
        <p:spPr>
          <a:xfrm>
            <a:off x="6391656" y="1773936"/>
            <a:ext cx="4645152" cy="310896"/>
          </a:xfrm>
          <a:prstGeom prst="rect">
            <a:avLst/>
          </a:prstGeom>
          <a:noFill/>
          <a:ln/>
        </p:spPr>
        <p:txBody>
          <a:bodyPr wrap="square" lIns="254" tIns="254" rIns="254" bIns="254" rtlCol="0" anchor="t">
            <a:noAutofit/>
          </a:bodyPr>
          <a:lstStyle/>
          <a:p>
            <a:pPr marL="0" indent="0">
              <a:buNone/>
            </a:pPr>
            <a:r>
              <a:rPr lang="en-US" dirty="0">
                <a:solidFill>
                  <a:srgbClr val="D8D5FF"/>
                </a:solidFill>
              </a:rPr>
              <a:t>Kong con rutas por dominio, API Key, CORS y header apikey.</a:t>
            </a:r>
            <a:endParaRPr lang="en-US" dirty="0"/>
          </a:p>
        </p:txBody>
      </p:sp>
      <p:sp>
        <p:nvSpPr>
          <p:cNvPr id="14" name="Shape 12"/>
          <p:cNvSpPr/>
          <p:nvPr/>
        </p:nvSpPr>
        <p:spPr>
          <a:xfrm>
            <a:off x="697930" y="2804969"/>
            <a:ext cx="5047488" cy="1078992"/>
          </a:xfrm>
          <a:prstGeom prst="roundRect">
            <a:avLst>
              <a:gd name="adj" fmla="val 6780"/>
            </a:avLst>
          </a:prstGeom>
          <a:solidFill>
            <a:srgbClr val="17124A"/>
          </a:solidFill>
          <a:ln w="12700">
            <a:solidFill>
              <a:srgbClr val="5045A8">
                <a:alpha val="95000"/>
              </a:srgbClr>
            </a:solidFill>
            <a:prstDash val="solid"/>
          </a:ln>
        </p:spPr>
        <p:txBody>
          <a:bodyPr/>
          <a:lstStyle/>
          <a:p>
            <a:endParaRPr lang="es-ES"/>
          </a:p>
        </p:txBody>
      </p:sp>
      <p:sp>
        <p:nvSpPr>
          <p:cNvPr id="15" name="Text 13"/>
          <p:cNvSpPr/>
          <p:nvPr/>
        </p:nvSpPr>
        <p:spPr>
          <a:xfrm>
            <a:off x="886968" y="2907792"/>
            <a:ext cx="464515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Servicios</a:t>
            </a:r>
            <a:endParaRPr lang="en-US" dirty="0"/>
          </a:p>
        </p:txBody>
      </p:sp>
      <p:sp>
        <p:nvSpPr>
          <p:cNvPr id="16" name="Text 14"/>
          <p:cNvSpPr/>
          <p:nvPr/>
        </p:nvSpPr>
        <p:spPr>
          <a:xfrm>
            <a:off x="987552" y="3189017"/>
            <a:ext cx="4645152" cy="310896"/>
          </a:xfrm>
          <a:prstGeom prst="rect">
            <a:avLst/>
          </a:prstGeom>
          <a:noFill/>
          <a:ln/>
        </p:spPr>
        <p:txBody>
          <a:bodyPr wrap="square" lIns="254" tIns="254" rIns="254" bIns="254" rtlCol="0" anchor="t">
            <a:noAutofit/>
          </a:bodyPr>
          <a:lstStyle/>
          <a:p>
            <a:pPr marL="0" indent="0">
              <a:buNone/>
            </a:pPr>
            <a:r>
              <a:rPr lang="en-US" dirty="0">
                <a:solidFill>
                  <a:srgbClr val="D8D5FF"/>
                </a:solidFill>
              </a:rPr>
              <a:t>Academic, Payments, Wellbeing, Notifications y Analytics en FastAPI.</a:t>
            </a:r>
            <a:endParaRPr lang="en-US" dirty="0"/>
          </a:p>
        </p:txBody>
      </p:sp>
      <p:sp>
        <p:nvSpPr>
          <p:cNvPr id="17" name="Shape 15"/>
          <p:cNvSpPr/>
          <p:nvPr/>
        </p:nvSpPr>
        <p:spPr>
          <a:xfrm>
            <a:off x="6217920" y="2706624"/>
            <a:ext cx="5047488" cy="1078992"/>
          </a:xfrm>
          <a:prstGeom prst="roundRect">
            <a:avLst>
              <a:gd name="adj" fmla="val 6780"/>
            </a:avLst>
          </a:prstGeom>
          <a:solidFill>
            <a:srgbClr val="21175F"/>
          </a:solidFill>
          <a:ln w="12700">
            <a:solidFill>
              <a:srgbClr val="5045A8">
                <a:alpha val="95000"/>
              </a:srgbClr>
            </a:solidFill>
            <a:prstDash val="solid"/>
          </a:ln>
        </p:spPr>
        <p:txBody>
          <a:bodyPr/>
          <a:lstStyle/>
          <a:p>
            <a:endParaRPr lang="es-ES"/>
          </a:p>
        </p:txBody>
      </p:sp>
      <p:sp>
        <p:nvSpPr>
          <p:cNvPr id="18" name="Text 16"/>
          <p:cNvSpPr/>
          <p:nvPr/>
        </p:nvSpPr>
        <p:spPr>
          <a:xfrm>
            <a:off x="6419088" y="2907792"/>
            <a:ext cx="464515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Datos</a:t>
            </a:r>
            <a:endParaRPr lang="en-US" dirty="0"/>
          </a:p>
        </p:txBody>
      </p:sp>
      <p:sp>
        <p:nvSpPr>
          <p:cNvPr id="19" name="Text 17"/>
          <p:cNvSpPr/>
          <p:nvPr/>
        </p:nvSpPr>
        <p:spPr>
          <a:xfrm>
            <a:off x="6419088" y="3310128"/>
            <a:ext cx="4645152" cy="310896"/>
          </a:xfrm>
          <a:prstGeom prst="rect">
            <a:avLst/>
          </a:prstGeom>
          <a:noFill/>
          <a:ln/>
        </p:spPr>
        <p:txBody>
          <a:bodyPr wrap="square" lIns="254" tIns="254" rIns="254" bIns="254" rtlCol="0" anchor="t">
            <a:normAutofit/>
          </a:bodyPr>
          <a:lstStyle/>
          <a:p>
            <a:pPr marL="0" indent="0">
              <a:buNone/>
            </a:pPr>
            <a:r>
              <a:rPr lang="en-US" dirty="0">
                <a:solidFill>
                  <a:srgbClr val="D8D5FF"/>
                </a:solidFill>
              </a:rPr>
              <a:t>PostgreSQL independiente por microservicio.</a:t>
            </a:r>
            <a:endParaRPr lang="en-US" dirty="0"/>
          </a:p>
        </p:txBody>
      </p:sp>
      <p:sp>
        <p:nvSpPr>
          <p:cNvPr id="20" name="Shape 18"/>
          <p:cNvSpPr/>
          <p:nvPr/>
        </p:nvSpPr>
        <p:spPr>
          <a:xfrm>
            <a:off x="758952" y="4282378"/>
            <a:ext cx="5047488" cy="1078992"/>
          </a:xfrm>
          <a:prstGeom prst="roundRect">
            <a:avLst>
              <a:gd name="adj" fmla="val 6780"/>
            </a:avLst>
          </a:prstGeom>
          <a:solidFill>
            <a:srgbClr val="17124A"/>
          </a:solidFill>
          <a:ln w="12700">
            <a:solidFill>
              <a:srgbClr val="5045A8">
                <a:alpha val="95000"/>
              </a:srgbClr>
            </a:solidFill>
            <a:prstDash val="solid"/>
          </a:ln>
        </p:spPr>
        <p:txBody>
          <a:bodyPr/>
          <a:lstStyle/>
          <a:p>
            <a:endParaRPr lang="es-ES"/>
          </a:p>
        </p:txBody>
      </p:sp>
      <p:sp>
        <p:nvSpPr>
          <p:cNvPr id="21" name="Text 19"/>
          <p:cNvSpPr/>
          <p:nvPr/>
        </p:nvSpPr>
        <p:spPr>
          <a:xfrm>
            <a:off x="886968" y="4389120"/>
            <a:ext cx="464515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Eventos</a:t>
            </a:r>
            <a:endParaRPr lang="en-US" dirty="0"/>
          </a:p>
        </p:txBody>
      </p:sp>
      <p:sp>
        <p:nvSpPr>
          <p:cNvPr id="22" name="Text 20"/>
          <p:cNvSpPr/>
          <p:nvPr/>
        </p:nvSpPr>
        <p:spPr>
          <a:xfrm>
            <a:off x="987552" y="4709160"/>
            <a:ext cx="4645152" cy="310896"/>
          </a:xfrm>
          <a:prstGeom prst="rect">
            <a:avLst/>
          </a:prstGeom>
          <a:noFill/>
          <a:ln/>
        </p:spPr>
        <p:txBody>
          <a:bodyPr wrap="square" lIns="254" tIns="254" rIns="254" bIns="254" rtlCol="0" anchor="t">
            <a:noAutofit/>
          </a:bodyPr>
          <a:lstStyle/>
          <a:p>
            <a:pPr marL="0" indent="0">
              <a:buNone/>
            </a:pPr>
            <a:r>
              <a:rPr lang="en-US" dirty="0">
                <a:solidFill>
                  <a:srgbClr val="D8D5FF"/>
                </a:solidFill>
              </a:rPr>
              <a:t>StudentEnrolled, PaymentConfirmed, AttendanceRecorded e IncidentReported.</a:t>
            </a:r>
            <a:endParaRPr lang="en-US" dirty="0"/>
          </a:p>
        </p:txBody>
      </p:sp>
      <p:sp>
        <p:nvSpPr>
          <p:cNvPr id="23" name="Shape 21"/>
          <p:cNvSpPr/>
          <p:nvPr/>
        </p:nvSpPr>
        <p:spPr>
          <a:xfrm>
            <a:off x="6217920" y="4187952"/>
            <a:ext cx="5047488" cy="1078992"/>
          </a:xfrm>
          <a:prstGeom prst="roundRect">
            <a:avLst>
              <a:gd name="adj" fmla="val 6780"/>
            </a:avLst>
          </a:prstGeom>
          <a:solidFill>
            <a:srgbClr val="21175F"/>
          </a:solidFill>
          <a:ln w="12700">
            <a:solidFill>
              <a:srgbClr val="5045A8">
                <a:alpha val="95000"/>
              </a:srgbClr>
            </a:solidFill>
            <a:prstDash val="solid"/>
          </a:ln>
        </p:spPr>
        <p:txBody>
          <a:bodyPr/>
          <a:lstStyle/>
          <a:p>
            <a:endParaRPr lang="es-ES"/>
          </a:p>
        </p:txBody>
      </p:sp>
      <p:sp>
        <p:nvSpPr>
          <p:cNvPr id="24" name="Text 22"/>
          <p:cNvSpPr/>
          <p:nvPr/>
        </p:nvSpPr>
        <p:spPr>
          <a:xfrm>
            <a:off x="6419088" y="4246548"/>
            <a:ext cx="464515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Ejecución</a:t>
            </a:r>
            <a:endParaRPr lang="en-US" dirty="0"/>
          </a:p>
        </p:txBody>
      </p:sp>
      <p:sp>
        <p:nvSpPr>
          <p:cNvPr id="25" name="Text 23"/>
          <p:cNvSpPr/>
          <p:nvPr/>
        </p:nvSpPr>
        <p:spPr>
          <a:xfrm>
            <a:off x="6419088" y="4641047"/>
            <a:ext cx="4645152" cy="310896"/>
          </a:xfrm>
          <a:prstGeom prst="rect">
            <a:avLst/>
          </a:prstGeom>
          <a:noFill/>
          <a:ln/>
        </p:spPr>
        <p:txBody>
          <a:bodyPr wrap="square" lIns="254" tIns="254" rIns="254" bIns="254" rtlCol="0" anchor="t">
            <a:noAutofit/>
          </a:bodyPr>
          <a:lstStyle/>
          <a:p>
            <a:pPr marL="0" indent="0">
              <a:buNone/>
            </a:pPr>
            <a:r>
              <a:rPr lang="en-US" dirty="0">
                <a:solidFill>
                  <a:srgbClr val="D8D5FF"/>
                </a:solidFill>
              </a:rPr>
              <a:t>Docker Compose levanta todo el ecosistema local.</a:t>
            </a:r>
            <a:endParaRPr lang="en-US" dirty="0"/>
          </a:p>
        </p:txBody>
      </p:sp>
      <p:sp>
        <p:nvSpPr>
          <p:cNvPr id="27" name="Shape 25"/>
          <p:cNvSpPr/>
          <p:nvPr/>
        </p:nvSpPr>
        <p:spPr>
          <a:xfrm>
            <a:off x="2377440" y="5559552"/>
            <a:ext cx="4160520" cy="438912"/>
          </a:xfrm>
          <a:prstGeom prst="roundRect">
            <a:avLst>
              <a:gd name="adj" fmla="val 8333"/>
            </a:avLst>
          </a:prstGeom>
          <a:solidFill>
            <a:srgbClr val="050417"/>
          </a:solidFill>
          <a:ln w="12700">
            <a:solidFill>
              <a:srgbClr val="5045A8"/>
            </a:solidFill>
            <a:prstDash val="solid"/>
          </a:ln>
        </p:spPr>
        <p:txBody>
          <a:bodyPr/>
          <a:lstStyle/>
          <a:p>
            <a:endParaRPr lang="es-ES"/>
          </a:p>
        </p:txBody>
      </p:sp>
      <p:sp>
        <p:nvSpPr>
          <p:cNvPr id="28" name="Text 26"/>
          <p:cNvSpPr/>
          <p:nvPr/>
        </p:nvSpPr>
        <p:spPr>
          <a:xfrm>
            <a:off x="2606040" y="5696712"/>
            <a:ext cx="3703320" cy="128016"/>
          </a:xfrm>
          <a:prstGeom prst="rect">
            <a:avLst/>
          </a:prstGeom>
          <a:noFill/>
          <a:ln/>
        </p:spPr>
        <p:txBody>
          <a:bodyPr wrap="square" lIns="0" tIns="0" rIns="0" bIns="0" rtlCol="0" anchor="ctr"/>
          <a:lstStyle/>
          <a:p>
            <a:pPr marL="0" indent="0">
              <a:buNone/>
            </a:pPr>
            <a:r>
              <a:rPr lang="en-US" dirty="0">
                <a:solidFill>
                  <a:srgbClr val="22C55E"/>
                </a:solidFill>
                <a:latin typeface="Aptos Mono" pitchFamily="34" charset="0"/>
                <a:ea typeface="Aptos Mono" pitchFamily="34" charset="-122"/>
                <a:cs typeface="Aptos Mono" pitchFamily="34" charset="-120"/>
              </a:rPr>
              <a:t>docker compose up --build</a:t>
            </a:r>
            <a:endParaRPr lang="en-US" dirty="0"/>
          </a:p>
        </p:txBody>
      </p:sp>
      <p:sp>
        <p:nvSpPr>
          <p:cNvPr id="29" name="Text 27"/>
          <p:cNvSpPr/>
          <p:nvPr/>
        </p:nvSpPr>
        <p:spPr>
          <a:xfrm>
            <a:off x="7095744" y="5678424"/>
            <a:ext cx="1463040" cy="201168"/>
          </a:xfrm>
          <a:prstGeom prst="rect">
            <a:avLst/>
          </a:prstGeom>
          <a:noFill/>
          <a:ln/>
        </p:spPr>
        <p:txBody>
          <a:bodyPr wrap="square" lIns="0" tIns="0" rIns="0" bIns="0" rtlCol="0" anchor="ctr"/>
          <a:lstStyle/>
          <a:p>
            <a:pPr marL="0" indent="0">
              <a:buNone/>
            </a:pPr>
            <a:r>
              <a:rPr lang="en-US" b="1" dirty="0">
                <a:solidFill>
                  <a:srgbClr val="22D3EE"/>
                </a:solidFill>
              </a:rPr>
              <a:t>Validación rápida</a:t>
            </a:r>
            <a:endParaRPr lang="en-US" dirty="0"/>
          </a:p>
        </p:txBody>
      </p:sp>
      <p:sp>
        <p:nvSpPr>
          <p:cNvPr id="30" name="Shape 28"/>
          <p:cNvSpPr/>
          <p:nvPr/>
        </p:nvSpPr>
        <p:spPr>
          <a:xfrm>
            <a:off x="8430768" y="5559552"/>
            <a:ext cx="2606040" cy="438912"/>
          </a:xfrm>
          <a:prstGeom prst="roundRect">
            <a:avLst>
              <a:gd name="adj" fmla="val 8333"/>
            </a:avLst>
          </a:prstGeom>
          <a:solidFill>
            <a:srgbClr val="050417"/>
          </a:solidFill>
          <a:ln w="12700">
            <a:solidFill>
              <a:srgbClr val="5045A8"/>
            </a:solidFill>
            <a:prstDash val="solid"/>
          </a:ln>
        </p:spPr>
        <p:txBody>
          <a:bodyPr/>
          <a:lstStyle/>
          <a:p>
            <a:endParaRPr lang="es-ES"/>
          </a:p>
        </p:txBody>
      </p:sp>
      <p:sp>
        <p:nvSpPr>
          <p:cNvPr id="31" name="Text 29"/>
          <p:cNvSpPr/>
          <p:nvPr/>
        </p:nvSpPr>
        <p:spPr>
          <a:xfrm>
            <a:off x="8668512" y="5696712"/>
            <a:ext cx="2103120" cy="128016"/>
          </a:xfrm>
          <a:prstGeom prst="rect">
            <a:avLst/>
          </a:prstGeom>
          <a:noFill/>
          <a:ln/>
        </p:spPr>
        <p:txBody>
          <a:bodyPr wrap="square" lIns="0" tIns="0" rIns="0" bIns="0" rtlCol="0" anchor="ctr"/>
          <a:lstStyle/>
          <a:p>
            <a:pPr marL="0" indent="0">
              <a:buNone/>
            </a:pPr>
            <a:r>
              <a:rPr lang="en-US" dirty="0">
                <a:solidFill>
                  <a:srgbClr val="22C55E"/>
                </a:solidFill>
                <a:latin typeface="Aptos Mono" pitchFamily="34" charset="0"/>
                <a:ea typeface="Aptos Mono" pitchFamily="34" charset="-122"/>
                <a:cs typeface="Aptos Mono" pitchFamily="34" charset="-120"/>
              </a:rPr>
              <a:t>docker compose ps</a:t>
            </a:r>
            <a:endParaRPr lang="en-US" dirty="0"/>
          </a:p>
        </p:txBody>
      </p:sp>
      <p:sp>
        <p:nvSpPr>
          <p:cNvPr id="32" name="Text 30"/>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33" name="Text 31"/>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sz="1400"/>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sz="1400" b="1" dirty="0">
                <a:solidFill>
                  <a:srgbClr val="FFFFFF"/>
                </a:solidFill>
                <a:latin typeface="Aptos Display" pitchFamily="34" charset="0"/>
                <a:ea typeface="Aptos Display" pitchFamily="34" charset="-122"/>
                <a:cs typeface="Aptos Display" pitchFamily="34" charset="-120"/>
              </a:rPr>
              <a:t>8. Pruebas y validación</a:t>
            </a:r>
            <a:endParaRPr lang="en-US" sz="1400"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sz="1400" dirty="0">
                <a:solidFill>
                  <a:srgbClr val="A9A3D7"/>
                </a:solidFill>
              </a:rPr>
              <a:t>Evidencia técnica que demuestra estabilidad e integración</a:t>
            </a:r>
            <a:endParaRPr lang="en-US" sz="1400" dirty="0"/>
          </a:p>
        </p:txBody>
      </p:sp>
      <p:sp>
        <p:nvSpPr>
          <p:cNvPr id="6" name="Shape 4"/>
          <p:cNvSpPr/>
          <p:nvPr/>
        </p:nvSpPr>
        <p:spPr>
          <a:xfrm>
            <a:off x="9555480" y="402336"/>
            <a:ext cx="2103120" cy="384048"/>
          </a:xfrm>
          <a:prstGeom prst="roundRect">
            <a:avLst>
              <a:gd name="adj" fmla="val 19048"/>
            </a:avLst>
          </a:prstGeom>
          <a:solidFill>
            <a:srgbClr val="21175F">
              <a:alpha val="95000"/>
            </a:srgbClr>
          </a:solidFill>
          <a:ln w="12700">
            <a:solidFill>
              <a:srgbClr val="5045A8">
                <a:alpha val="90000"/>
              </a:srgbClr>
            </a:solidFill>
            <a:prstDash val="solid"/>
          </a:ln>
        </p:spPr>
        <p:txBody>
          <a:bodyPr/>
          <a:lstStyle/>
          <a:p>
            <a:endParaRPr lang="es-ES" sz="1400"/>
          </a:p>
        </p:txBody>
      </p:sp>
      <p:sp>
        <p:nvSpPr>
          <p:cNvPr id="7" name="Text 5"/>
          <p:cNvSpPr/>
          <p:nvPr/>
        </p:nvSpPr>
        <p:spPr>
          <a:xfrm>
            <a:off x="9674352" y="484632"/>
            <a:ext cx="1920240" cy="201168"/>
          </a:xfrm>
          <a:prstGeom prst="rect">
            <a:avLst/>
          </a:prstGeom>
          <a:noFill/>
          <a:ln/>
        </p:spPr>
        <p:txBody>
          <a:bodyPr wrap="square" lIns="0" tIns="0" rIns="0" bIns="0" rtlCol="0" anchor="ctr"/>
          <a:lstStyle/>
          <a:p>
            <a:pPr marL="0" indent="0">
              <a:buNone/>
            </a:pPr>
            <a:r>
              <a:rPr lang="en-US" sz="1400" b="1" dirty="0">
                <a:solidFill>
                  <a:srgbClr val="D8D5FF"/>
                </a:solidFill>
              </a:rPr>
              <a:t>Criterio: Pruebas</a:t>
            </a:r>
            <a:endParaRPr lang="en-US" sz="1400" dirty="0"/>
          </a:p>
        </p:txBody>
      </p:sp>
      <p:sp>
        <p:nvSpPr>
          <p:cNvPr id="8" name="Shape 6"/>
          <p:cNvSpPr/>
          <p:nvPr/>
        </p:nvSpPr>
        <p:spPr>
          <a:xfrm>
            <a:off x="593054" y="2135124"/>
            <a:ext cx="3310128" cy="1170432"/>
          </a:xfrm>
          <a:prstGeom prst="roundRect">
            <a:avLst>
              <a:gd name="adj" fmla="val 6250"/>
            </a:avLst>
          </a:prstGeom>
          <a:solidFill>
            <a:srgbClr val="21175F"/>
          </a:solidFill>
          <a:ln w="12700">
            <a:solidFill>
              <a:srgbClr val="5045A8">
                <a:alpha val="95000"/>
              </a:srgbClr>
            </a:solidFill>
            <a:prstDash val="solid"/>
          </a:ln>
        </p:spPr>
        <p:txBody>
          <a:bodyPr/>
          <a:lstStyle/>
          <a:p>
            <a:endParaRPr lang="es-ES"/>
          </a:p>
        </p:txBody>
      </p:sp>
      <p:sp>
        <p:nvSpPr>
          <p:cNvPr id="9" name="Text 7"/>
          <p:cNvSpPr/>
          <p:nvPr/>
        </p:nvSpPr>
        <p:spPr>
          <a:xfrm>
            <a:off x="794222" y="2336292"/>
            <a:ext cx="290779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Configuración</a:t>
            </a:r>
            <a:endParaRPr lang="en-US" dirty="0"/>
          </a:p>
        </p:txBody>
      </p:sp>
      <p:sp>
        <p:nvSpPr>
          <p:cNvPr id="10" name="Text 8"/>
          <p:cNvSpPr/>
          <p:nvPr/>
        </p:nvSpPr>
        <p:spPr>
          <a:xfrm>
            <a:off x="794222" y="2738628"/>
            <a:ext cx="2907792" cy="402336"/>
          </a:xfrm>
          <a:prstGeom prst="rect">
            <a:avLst/>
          </a:prstGeom>
          <a:noFill/>
          <a:ln/>
        </p:spPr>
        <p:txBody>
          <a:bodyPr wrap="square" lIns="254" tIns="254" rIns="254" bIns="254" rtlCol="0" anchor="t">
            <a:noAutofit/>
          </a:bodyPr>
          <a:lstStyle/>
          <a:p>
            <a:pPr marL="0" indent="0">
              <a:buNone/>
            </a:pPr>
            <a:r>
              <a:rPr lang="en-US" dirty="0">
                <a:solidFill>
                  <a:srgbClr val="D8D5FF"/>
                </a:solidFill>
              </a:rPr>
              <a:t>docker compose config</a:t>
            </a:r>
            <a:endParaRPr lang="en-US" dirty="0"/>
          </a:p>
          <a:p>
            <a:pPr marL="0" indent="0">
              <a:buNone/>
            </a:pPr>
            <a:r>
              <a:rPr lang="en-US" dirty="0">
                <a:solidFill>
                  <a:srgbClr val="D8D5FF"/>
                </a:solidFill>
              </a:rPr>
              <a:t>docker compose ps</a:t>
            </a:r>
            <a:endParaRPr lang="en-US" dirty="0"/>
          </a:p>
        </p:txBody>
      </p:sp>
      <p:sp>
        <p:nvSpPr>
          <p:cNvPr id="11" name="Shape 9"/>
          <p:cNvSpPr/>
          <p:nvPr/>
        </p:nvSpPr>
        <p:spPr>
          <a:xfrm>
            <a:off x="4342094" y="2135124"/>
            <a:ext cx="3310128" cy="1170432"/>
          </a:xfrm>
          <a:prstGeom prst="roundRect">
            <a:avLst>
              <a:gd name="adj" fmla="val 6250"/>
            </a:avLst>
          </a:prstGeom>
          <a:solidFill>
            <a:srgbClr val="21175F"/>
          </a:solidFill>
          <a:ln w="12700">
            <a:solidFill>
              <a:srgbClr val="5045A8">
                <a:alpha val="95000"/>
              </a:srgbClr>
            </a:solidFill>
            <a:prstDash val="solid"/>
          </a:ln>
        </p:spPr>
        <p:txBody>
          <a:bodyPr/>
          <a:lstStyle/>
          <a:p>
            <a:endParaRPr lang="es-ES"/>
          </a:p>
        </p:txBody>
      </p:sp>
      <p:sp>
        <p:nvSpPr>
          <p:cNvPr id="12" name="Text 10"/>
          <p:cNvSpPr/>
          <p:nvPr/>
        </p:nvSpPr>
        <p:spPr>
          <a:xfrm>
            <a:off x="4543262" y="2336292"/>
            <a:ext cx="290779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Gateway</a:t>
            </a:r>
            <a:endParaRPr lang="en-US" dirty="0"/>
          </a:p>
        </p:txBody>
      </p:sp>
      <p:sp>
        <p:nvSpPr>
          <p:cNvPr id="13" name="Text 11"/>
          <p:cNvSpPr/>
          <p:nvPr/>
        </p:nvSpPr>
        <p:spPr>
          <a:xfrm>
            <a:off x="4543262" y="2738628"/>
            <a:ext cx="2907792" cy="402336"/>
          </a:xfrm>
          <a:prstGeom prst="rect">
            <a:avLst/>
          </a:prstGeom>
          <a:noFill/>
          <a:ln/>
        </p:spPr>
        <p:txBody>
          <a:bodyPr wrap="square" lIns="254" tIns="254" rIns="254" bIns="254" rtlCol="0" anchor="t">
            <a:noAutofit/>
          </a:bodyPr>
          <a:lstStyle/>
          <a:p>
            <a:pPr marL="0" indent="0">
              <a:buNone/>
            </a:pPr>
            <a:r>
              <a:rPr lang="en-US" dirty="0">
                <a:solidFill>
                  <a:srgbClr val="D8D5FF"/>
                </a:solidFill>
              </a:rPr>
              <a:t>Sin API Key → 401</a:t>
            </a:r>
            <a:endParaRPr lang="en-US" dirty="0"/>
          </a:p>
          <a:p>
            <a:pPr marL="0" indent="0">
              <a:buNone/>
            </a:pPr>
            <a:r>
              <a:rPr lang="en-US" dirty="0">
                <a:solidFill>
                  <a:srgbClr val="D8D5FF"/>
                </a:solidFill>
              </a:rPr>
              <a:t>Con API Key → 200</a:t>
            </a:r>
            <a:endParaRPr lang="en-US" dirty="0"/>
          </a:p>
        </p:txBody>
      </p:sp>
      <p:sp>
        <p:nvSpPr>
          <p:cNvPr id="14" name="Shape 12"/>
          <p:cNvSpPr/>
          <p:nvPr/>
        </p:nvSpPr>
        <p:spPr>
          <a:xfrm>
            <a:off x="8091134" y="2135124"/>
            <a:ext cx="3310128" cy="1170432"/>
          </a:xfrm>
          <a:prstGeom prst="roundRect">
            <a:avLst>
              <a:gd name="adj" fmla="val 6250"/>
            </a:avLst>
          </a:prstGeom>
          <a:solidFill>
            <a:srgbClr val="21175F"/>
          </a:solidFill>
          <a:ln w="12700">
            <a:solidFill>
              <a:srgbClr val="5045A8">
                <a:alpha val="95000"/>
              </a:srgbClr>
            </a:solidFill>
            <a:prstDash val="solid"/>
          </a:ln>
        </p:spPr>
        <p:txBody>
          <a:bodyPr/>
          <a:lstStyle/>
          <a:p>
            <a:endParaRPr lang="es-ES"/>
          </a:p>
        </p:txBody>
      </p:sp>
      <p:sp>
        <p:nvSpPr>
          <p:cNvPr id="15" name="Text 13"/>
          <p:cNvSpPr/>
          <p:nvPr/>
        </p:nvSpPr>
        <p:spPr>
          <a:xfrm>
            <a:off x="8292302" y="2336292"/>
            <a:ext cx="290779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Servicios</a:t>
            </a:r>
            <a:endParaRPr lang="en-US" dirty="0"/>
          </a:p>
        </p:txBody>
      </p:sp>
      <p:sp>
        <p:nvSpPr>
          <p:cNvPr id="16" name="Text 14"/>
          <p:cNvSpPr/>
          <p:nvPr/>
        </p:nvSpPr>
        <p:spPr>
          <a:xfrm>
            <a:off x="8292302" y="2738628"/>
            <a:ext cx="2907792" cy="402336"/>
          </a:xfrm>
          <a:prstGeom prst="rect">
            <a:avLst/>
          </a:prstGeom>
          <a:noFill/>
          <a:ln/>
        </p:spPr>
        <p:txBody>
          <a:bodyPr wrap="square" lIns="254" tIns="254" rIns="254" bIns="254" rtlCol="0" anchor="t">
            <a:noAutofit/>
          </a:bodyPr>
          <a:lstStyle/>
          <a:p>
            <a:pPr marL="0" indent="0">
              <a:buNone/>
            </a:pPr>
            <a:r>
              <a:rPr lang="en-US" dirty="0">
                <a:solidFill>
                  <a:srgbClr val="D8D5FF"/>
                </a:solidFill>
              </a:rPr>
              <a:t>Swagger / endpoints CRUD</a:t>
            </a:r>
            <a:endParaRPr lang="en-US" dirty="0"/>
          </a:p>
          <a:p>
            <a:pPr marL="0" indent="0">
              <a:buNone/>
            </a:pPr>
            <a:r>
              <a:rPr lang="en-US" dirty="0">
                <a:solidFill>
                  <a:srgbClr val="D8D5FF"/>
                </a:solidFill>
              </a:rPr>
              <a:t>health checks</a:t>
            </a:r>
            <a:endParaRPr lang="en-US" dirty="0"/>
          </a:p>
        </p:txBody>
      </p:sp>
      <p:sp>
        <p:nvSpPr>
          <p:cNvPr id="17" name="Shape 15"/>
          <p:cNvSpPr/>
          <p:nvPr/>
        </p:nvSpPr>
        <p:spPr>
          <a:xfrm>
            <a:off x="593054" y="3735324"/>
            <a:ext cx="3310128" cy="1170432"/>
          </a:xfrm>
          <a:prstGeom prst="roundRect">
            <a:avLst>
              <a:gd name="adj" fmla="val 6250"/>
            </a:avLst>
          </a:prstGeom>
          <a:solidFill>
            <a:srgbClr val="17124A"/>
          </a:solidFill>
          <a:ln w="12700">
            <a:solidFill>
              <a:srgbClr val="5045A8">
                <a:alpha val="95000"/>
              </a:srgbClr>
            </a:solidFill>
            <a:prstDash val="solid"/>
          </a:ln>
        </p:spPr>
        <p:txBody>
          <a:bodyPr/>
          <a:lstStyle/>
          <a:p>
            <a:endParaRPr lang="es-ES"/>
          </a:p>
        </p:txBody>
      </p:sp>
      <p:sp>
        <p:nvSpPr>
          <p:cNvPr id="18" name="Text 16"/>
          <p:cNvSpPr/>
          <p:nvPr/>
        </p:nvSpPr>
        <p:spPr>
          <a:xfrm>
            <a:off x="794222" y="3936492"/>
            <a:ext cx="290779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Eventos</a:t>
            </a:r>
            <a:endParaRPr lang="en-US" dirty="0"/>
          </a:p>
        </p:txBody>
      </p:sp>
      <p:sp>
        <p:nvSpPr>
          <p:cNvPr id="19" name="Text 17"/>
          <p:cNvSpPr/>
          <p:nvPr/>
        </p:nvSpPr>
        <p:spPr>
          <a:xfrm>
            <a:off x="794222" y="4338828"/>
            <a:ext cx="2907792" cy="402336"/>
          </a:xfrm>
          <a:prstGeom prst="rect">
            <a:avLst/>
          </a:prstGeom>
          <a:noFill/>
          <a:ln/>
        </p:spPr>
        <p:txBody>
          <a:bodyPr wrap="square" lIns="254" tIns="254" rIns="254" bIns="254" rtlCol="0" anchor="t">
            <a:noAutofit/>
          </a:bodyPr>
          <a:lstStyle/>
          <a:p>
            <a:pPr marL="0" indent="0">
              <a:buNone/>
            </a:pPr>
            <a:r>
              <a:rPr lang="en-US" dirty="0">
                <a:solidFill>
                  <a:srgbClr val="D8D5FF"/>
                </a:solidFill>
              </a:rPr>
              <a:t>Colas RabbitMQ</a:t>
            </a:r>
            <a:endParaRPr lang="en-US" dirty="0"/>
          </a:p>
          <a:p>
            <a:pPr marL="0" indent="0">
              <a:buNone/>
            </a:pPr>
            <a:r>
              <a:rPr lang="en-US" dirty="0">
                <a:solidFill>
                  <a:srgbClr val="D8D5FF"/>
                </a:solidFill>
              </a:rPr>
              <a:t>logs de consumidores</a:t>
            </a:r>
            <a:endParaRPr lang="en-US" dirty="0"/>
          </a:p>
        </p:txBody>
      </p:sp>
      <p:sp>
        <p:nvSpPr>
          <p:cNvPr id="20" name="Shape 18"/>
          <p:cNvSpPr/>
          <p:nvPr/>
        </p:nvSpPr>
        <p:spPr>
          <a:xfrm>
            <a:off x="4342094" y="3735324"/>
            <a:ext cx="3310128" cy="1170432"/>
          </a:xfrm>
          <a:prstGeom prst="roundRect">
            <a:avLst>
              <a:gd name="adj" fmla="val 6250"/>
            </a:avLst>
          </a:prstGeom>
          <a:solidFill>
            <a:srgbClr val="17124A"/>
          </a:solidFill>
          <a:ln w="12700">
            <a:solidFill>
              <a:srgbClr val="5045A8">
                <a:alpha val="95000"/>
              </a:srgbClr>
            </a:solidFill>
            <a:prstDash val="solid"/>
          </a:ln>
        </p:spPr>
        <p:txBody>
          <a:bodyPr/>
          <a:lstStyle/>
          <a:p>
            <a:endParaRPr lang="es-ES"/>
          </a:p>
        </p:txBody>
      </p:sp>
      <p:sp>
        <p:nvSpPr>
          <p:cNvPr id="21" name="Text 19"/>
          <p:cNvSpPr/>
          <p:nvPr/>
        </p:nvSpPr>
        <p:spPr>
          <a:xfrm>
            <a:off x="4543262" y="3936492"/>
            <a:ext cx="290779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Idempotencia</a:t>
            </a:r>
            <a:endParaRPr lang="en-US" dirty="0"/>
          </a:p>
        </p:txBody>
      </p:sp>
      <p:sp>
        <p:nvSpPr>
          <p:cNvPr id="22" name="Text 20"/>
          <p:cNvSpPr/>
          <p:nvPr/>
        </p:nvSpPr>
        <p:spPr>
          <a:xfrm>
            <a:off x="4543262" y="4338828"/>
            <a:ext cx="2907792" cy="402336"/>
          </a:xfrm>
          <a:prstGeom prst="rect">
            <a:avLst/>
          </a:prstGeom>
          <a:noFill/>
          <a:ln/>
        </p:spPr>
        <p:txBody>
          <a:bodyPr wrap="square" lIns="254" tIns="254" rIns="254" bIns="254" rtlCol="0" anchor="t">
            <a:noAutofit/>
          </a:bodyPr>
          <a:lstStyle/>
          <a:p>
            <a:pPr marL="0" indent="0">
              <a:buNone/>
            </a:pPr>
            <a:r>
              <a:rPr lang="en-US" dirty="0">
                <a:solidFill>
                  <a:srgbClr val="D8D5FF"/>
                </a:solidFill>
              </a:rPr>
              <a:t>processed_events evita duplicados</a:t>
            </a:r>
            <a:endParaRPr lang="en-US" dirty="0"/>
          </a:p>
        </p:txBody>
      </p:sp>
      <p:sp>
        <p:nvSpPr>
          <p:cNvPr id="23" name="Shape 21"/>
          <p:cNvSpPr/>
          <p:nvPr/>
        </p:nvSpPr>
        <p:spPr>
          <a:xfrm>
            <a:off x="8091134" y="3735324"/>
            <a:ext cx="3310128" cy="1170432"/>
          </a:xfrm>
          <a:prstGeom prst="roundRect">
            <a:avLst>
              <a:gd name="adj" fmla="val 6250"/>
            </a:avLst>
          </a:prstGeom>
          <a:solidFill>
            <a:srgbClr val="17124A"/>
          </a:solidFill>
          <a:ln w="12700">
            <a:solidFill>
              <a:srgbClr val="5045A8">
                <a:alpha val="95000"/>
              </a:srgbClr>
            </a:solidFill>
            <a:prstDash val="solid"/>
          </a:ln>
        </p:spPr>
        <p:txBody>
          <a:bodyPr/>
          <a:lstStyle/>
          <a:p>
            <a:endParaRPr lang="es-ES"/>
          </a:p>
        </p:txBody>
      </p:sp>
      <p:sp>
        <p:nvSpPr>
          <p:cNvPr id="24" name="Text 22"/>
          <p:cNvSpPr/>
          <p:nvPr/>
        </p:nvSpPr>
        <p:spPr>
          <a:xfrm>
            <a:off x="8292302" y="3936492"/>
            <a:ext cx="2907792"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Dashboard</a:t>
            </a:r>
            <a:endParaRPr lang="en-US" dirty="0"/>
          </a:p>
        </p:txBody>
      </p:sp>
      <p:sp>
        <p:nvSpPr>
          <p:cNvPr id="25" name="Text 23"/>
          <p:cNvSpPr/>
          <p:nvPr/>
        </p:nvSpPr>
        <p:spPr>
          <a:xfrm>
            <a:off x="8292302" y="4338828"/>
            <a:ext cx="2907792" cy="402336"/>
          </a:xfrm>
          <a:prstGeom prst="rect">
            <a:avLst/>
          </a:prstGeom>
          <a:noFill/>
          <a:ln/>
        </p:spPr>
        <p:txBody>
          <a:bodyPr wrap="square" lIns="254" tIns="254" rIns="254" bIns="254" rtlCol="0" anchor="t">
            <a:noAutofit/>
          </a:bodyPr>
          <a:lstStyle/>
          <a:p>
            <a:pPr marL="0" indent="0">
              <a:buNone/>
            </a:pPr>
            <a:r>
              <a:rPr lang="en-US" dirty="0">
                <a:solidFill>
                  <a:srgbClr val="D8D5FF"/>
                </a:solidFill>
              </a:rPr>
              <a:t>Métricas y eventos consolidados</a:t>
            </a:r>
            <a:endParaRPr lang="en-US" dirty="0"/>
          </a:p>
        </p:txBody>
      </p:sp>
      <p:sp>
        <p:nvSpPr>
          <p:cNvPr id="32" name="Text 30"/>
          <p:cNvSpPr/>
          <p:nvPr/>
        </p:nvSpPr>
        <p:spPr>
          <a:xfrm>
            <a:off x="502920" y="6547104"/>
            <a:ext cx="5303520" cy="164592"/>
          </a:xfrm>
          <a:prstGeom prst="rect">
            <a:avLst/>
          </a:prstGeom>
          <a:noFill/>
          <a:ln/>
        </p:spPr>
        <p:txBody>
          <a:bodyPr wrap="square" lIns="0" tIns="0" rIns="0" bIns="0" rtlCol="0" anchor="ctr"/>
          <a:lstStyle/>
          <a:p>
            <a:pPr marL="0" indent="0">
              <a:buNone/>
            </a:pPr>
            <a:r>
              <a:rPr lang="en-US" sz="820" dirty="0">
                <a:solidFill>
                  <a:srgbClr val="8A84BC"/>
                </a:solidFill>
              </a:rPr>
              <a:t>CampusConnect 360 | Defensa técnica</a:t>
            </a:r>
            <a:endParaRPr lang="en-US" sz="820" dirty="0"/>
          </a:p>
        </p:txBody>
      </p:sp>
      <p:sp>
        <p:nvSpPr>
          <p:cNvPr id="33" name="Text 31"/>
          <p:cNvSpPr/>
          <p:nvPr/>
        </p:nvSpPr>
        <p:spPr>
          <a:xfrm>
            <a:off x="7498080" y="6547104"/>
            <a:ext cx="4160520" cy="164592"/>
          </a:xfrm>
          <a:prstGeom prst="rect">
            <a:avLst/>
          </a:prstGeom>
          <a:noFill/>
          <a:ln/>
        </p:spPr>
        <p:txBody>
          <a:bodyPr wrap="square" lIns="0" tIns="0" rIns="0" bIns="0" rtlCol="0" anchor="ctr"/>
          <a:lstStyle/>
          <a:p>
            <a:pPr marL="0" indent="0" algn="r">
              <a:buNone/>
            </a:pPr>
            <a:r>
              <a:rPr lang="en-US" sz="820" dirty="0">
                <a:solidFill>
                  <a:srgbClr val="8A84BC"/>
                </a:solidFill>
              </a:rPr>
              <a:t>Arquitectura de microservicios orientada a eventos</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6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625"/>
          </a:solidFill>
          <a:ln w="12700">
            <a:solidFill>
              <a:srgbClr val="090625"/>
            </a:solidFill>
            <a:prstDash val="solid"/>
          </a:ln>
        </p:spPr>
        <p:txBody>
          <a:bodyPr/>
          <a:lstStyle/>
          <a:p>
            <a:endParaRPr lang="es-ES"/>
          </a:p>
        </p:txBody>
      </p:sp>
      <p:sp>
        <p:nvSpPr>
          <p:cNvPr id="3" name="Shape 1"/>
          <p:cNvSpPr/>
          <p:nvPr/>
        </p:nvSpPr>
        <p:spPr>
          <a:xfrm>
            <a:off x="0" y="0"/>
            <a:ext cx="12191695" cy="146304"/>
          </a:xfrm>
          <a:prstGeom prst="rect">
            <a:avLst/>
          </a:prstGeom>
          <a:solidFill>
            <a:srgbClr val="7C3AED"/>
          </a:solidFill>
          <a:ln w="12700">
            <a:solidFill>
              <a:srgbClr val="7C3AED"/>
            </a:solidFill>
            <a:prstDash val="solid"/>
          </a:ln>
        </p:spPr>
        <p:txBody>
          <a:bodyPr/>
          <a:lstStyle/>
          <a:p>
            <a:endParaRPr lang="es-ES"/>
          </a:p>
        </p:txBody>
      </p:sp>
      <p:sp>
        <p:nvSpPr>
          <p:cNvPr id="4" name="Text 2"/>
          <p:cNvSpPr/>
          <p:nvPr/>
        </p:nvSpPr>
        <p:spPr>
          <a:xfrm>
            <a:off x="502920" y="329184"/>
            <a:ext cx="9052560" cy="438912"/>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9. Limitaciones, mejoras y cierre</a:t>
            </a:r>
            <a:endParaRPr lang="en-US" dirty="0"/>
          </a:p>
        </p:txBody>
      </p:sp>
      <p:sp>
        <p:nvSpPr>
          <p:cNvPr id="5" name="Text 3"/>
          <p:cNvSpPr/>
          <p:nvPr/>
        </p:nvSpPr>
        <p:spPr>
          <a:xfrm>
            <a:off x="512064" y="804672"/>
            <a:ext cx="8046720" cy="274320"/>
          </a:xfrm>
          <a:prstGeom prst="rect">
            <a:avLst/>
          </a:prstGeom>
          <a:noFill/>
          <a:ln/>
        </p:spPr>
        <p:txBody>
          <a:bodyPr wrap="square" lIns="0" tIns="0" rIns="0" bIns="0" rtlCol="0" anchor="ctr"/>
          <a:lstStyle/>
          <a:p>
            <a:pPr marL="0" indent="0">
              <a:buNone/>
            </a:pPr>
            <a:r>
              <a:rPr lang="en-US" dirty="0">
                <a:solidFill>
                  <a:srgbClr val="A9A3D7"/>
                </a:solidFill>
              </a:rPr>
              <a:t>Ser honesto con los trade-offs fortalece la defensa</a:t>
            </a:r>
            <a:endParaRPr lang="en-US" dirty="0"/>
          </a:p>
        </p:txBody>
      </p:sp>
      <p:sp>
        <p:nvSpPr>
          <p:cNvPr id="8" name="Shape 6"/>
          <p:cNvSpPr/>
          <p:nvPr/>
        </p:nvSpPr>
        <p:spPr>
          <a:xfrm>
            <a:off x="685800" y="1261872"/>
            <a:ext cx="3429000" cy="3154680"/>
          </a:xfrm>
          <a:prstGeom prst="roundRect">
            <a:avLst>
              <a:gd name="adj" fmla="val 2319"/>
            </a:avLst>
          </a:prstGeom>
          <a:solidFill>
            <a:srgbClr val="17124A"/>
          </a:solidFill>
          <a:ln w="12700">
            <a:solidFill>
              <a:srgbClr val="5045A8">
                <a:alpha val="95000"/>
              </a:srgbClr>
            </a:solidFill>
            <a:prstDash val="solid"/>
          </a:ln>
        </p:spPr>
        <p:txBody>
          <a:bodyPr/>
          <a:lstStyle/>
          <a:p>
            <a:endParaRPr lang="es-ES"/>
          </a:p>
        </p:txBody>
      </p:sp>
      <p:sp>
        <p:nvSpPr>
          <p:cNvPr id="9" name="Text 7"/>
          <p:cNvSpPr/>
          <p:nvPr/>
        </p:nvSpPr>
        <p:spPr>
          <a:xfrm>
            <a:off x="886968" y="146304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Limitaciones actuales</a:t>
            </a:r>
            <a:endParaRPr lang="en-US" dirty="0"/>
          </a:p>
        </p:txBody>
      </p:sp>
      <p:sp>
        <p:nvSpPr>
          <p:cNvPr id="10" name="Text 8"/>
          <p:cNvSpPr/>
          <p:nvPr/>
        </p:nvSpPr>
        <p:spPr>
          <a:xfrm>
            <a:off x="886968" y="1865376"/>
            <a:ext cx="3026664" cy="2386584"/>
          </a:xfrm>
          <a:prstGeom prst="rect">
            <a:avLst/>
          </a:prstGeom>
          <a:noFill/>
          <a:ln/>
        </p:spPr>
        <p:txBody>
          <a:bodyPr wrap="square" lIns="254" tIns="254" rIns="254" bIns="254" rtlCol="0" anchor="t">
            <a:noAutofit/>
          </a:bodyPr>
          <a:lstStyle/>
          <a:p>
            <a:pPr marL="0" indent="0">
              <a:buNone/>
            </a:pPr>
            <a:r>
              <a:rPr lang="en-US" dirty="0">
                <a:solidFill>
                  <a:srgbClr val="D8D5FF"/>
                </a:solidFill>
              </a:rPr>
              <a:t>• Mayor complejidad operacional</a:t>
            </a:r>
            <a:endParaRPr lang="en-US" dirty="0"/>
          </a:p>
          <a:p>
            <a:pPr marL="0" indent="0">
              <a:buNone/>
            </a:pPr>
            <a:r>
              <a:rPr lang="en-US" dirty="0">
                <a:solidFill>
                  <a:srgbClr val="D8D5FF"/>
                </a:solidFill>
              </a:rPr>
              <a:t>• Debugging distribuido más difícil</a:t>
            </a:r>
            <a:endParaRPr lang="en-US" dirty="0"/>
          </a:p>
          <a:p>
            <a:pPr marL="0" indent="0">
              <a:buNone/>
            </a:pPr>
            <a:r>
              <a:rPr lang="en-US" dirty="0">
                <a:solidFill>
                  <a:srgbClr val="D8D5FF"/>
                </a:solidFill>
              </a:rPr>
              <a:t>• Consistencia eventual</a:t>
            </a:r>
            <a:endParaRPr lang="en-US" dirty="0"/>
          </a:p>
          <a:p>
            <a:pPr marL="0" indent="0">
              <a:buNone/>
            </a:pPr>
            <a:r>
              <a:rPr lang="en-US" dirty="0">
                <a:solidFill>
                  <a:srgbClr val="D8D5FF"/>
                </a:solidFill>
              </a:rPr>
              <a:t>• Gestión de versiones de eventos</a:t>
            </a:r>
            <a:endParaRPr lang="en-US" dirty="0"/>
          </a:p>
          <a:p>
            <a:pPr marL="0" indent="0">
              <a:buNone/>
            </a:pPr>
            <a:r>
              <a:rPr lang="en-US" dirty="0">
                <a:solidFill>
                  <a:srgbClr val="D8D5FF"/>
                </a:solidFill>
              </a:rPr>
              <a:t>• No se implementa Transactional Outbox</a:t>
            </a:r>
            <a:endParaRPr lang="en-US" dirty="0"/>
          </a:p>
        </p:txBody>
      </p:sp>
      <p:sp>
        <p:nvSpPr>
          <p:cNvPr id="11" name="Shape 9"/>
          <p:cNvSpPr/>
          <p:nvPr/>
        </p:nvSpPr>
        <p:spPr>
          <a:xfrm>
            <a:off x="4389120" y="1261872"/>
            <a:ext cx="3429000" cy="3154680"/>
          </a:xfrm>
          <a:prstGeom prst="roundRect">
            <a:avLst>
              <a:gd name="adj" fmla="val 2319"/>
            </a:avLst>
          </a:prstGeom>
          <a:solidFill>
            <a:srgbClr val="21175F"/>
          </a:solidFill>
          <a:ln w="12700">
            <a:solidFill>
              <a:srgbClr val="5045A8">
                <a:alpha val="95000"/>
              </a:srgbClr>
            </a:solidFill>
            <a:prstDash val="solid"/>
          </a:ln>
        </p:spPr>
        <p:txBody>
          <a:bodyPr/>
          <a:lstStyle/>
          <a:p>
            <a:endParaRPr lang="es-ES"/>
          </a:p>
        </p:txBody>
      </p:sp>
      <p:sp>
        <p:nvSpPr>
          <p:cNvPr id="12" name="Text 10"/>
          <p:cNvSpPr/>
          <p:nvPr/>
        </p:nvSpPr>
        <p:spPr>
          <a:xfrm>
            <a:off x="4590288" y="146304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Mejoras futuras</a:t>
            </a:r>
            <a:endParaRPr lang="en-US" dirty="0"/>
          </a:p>
        </p:txBody>
      </p:sp>
      <p:sp>
        <p:nvSpPr>
          <p:cNvPr id="13" name="Text 11"/>
          <p:cNvSpPr/>
          <p:nvPr/>
        </p:nvSpPr>
        <p:spPr>
          <a:xfrm>
            <a:off x="4590288" y="1865376"/>
            <a:ext cx="3026664" cy="2386584"/>
          </a:xfrm>
          <a:prstGeom prst="rect">
            <a:avLst/>
          </a:prstGeom>
          <a:noFill/>
          <a:ln/>
        </p:spPr>
        <p:txBody>
          <a:bodyPr wrap="square" lIns="254" tIns="254" rIns="254" bIns="254" rtlCol="0" anchor="t">
            <a:normAutofit/>
          </a:bodyPr>
          <a:lstStyle/>
          <a:p>
            <a:pPr marL="0" indent="0">
              <a:buNone/>
            </a:pPr>
            <a:r>
              <a:rPr lang="en-US" dirty="0">
                <a:solidFill>
                  <a:srgbClr val="D8D5FF"/>
                </a:solidFill>
              </a:rPr>
              <a:t>• Transactional Outbox</a:t>
            </a:r>
            <a:endParaRPr lang="en-US" dirty="0"/>
          </a:p>
          <a:p>
            <a:pPr marL="0" indent="0">
              <a:buNone/>
            </a:pPr>
            <a:r>
              <a:rPr lang="en-US" dirty="0">
                <a:solidFill>
                  <a:srgbClr val="D8D5FF"/>
                </a:solidFill>
              </a:rPr>
              <a:t>• Observabilidad centralizada</a:t>
            </a:r>
            <a:endParaRPr lang="en-US" dirty="0"/>
          </a:p>
          <a:p>
            <a:pPr marL="0" indent="0">
              <a:buNone/>
            </a:pPr>
            <a:r>
              <a:rPr lang="en-US" dirty="0">
                <a:solidFill>
                  <a:srgbClr val="D8D5FF"/>
                </a:solidFill>
              </a:rPr>
              <a:t>• Pruebas de contrato</a:t>
            </a:r>
            <a:endParaRPr lang="en-US" dirty="0"/>
          </a:p>
          <a:p>
            <a:pPr marL="0" indent="0">
              <a:buNone/>
            </a:pPr>
            <a:r>
              <a:rPr lang="en-US" dirty="0">
                <a:solidFill>
                  <a:srgbClr val="D8D5FF"/>
                </a:solidFill>
              </a:rPr>
              <a:t>• Reintentos controlados</a:t>
            </a:r>
            <a:endParaRPr lang="en-US" dirty="0"/>
          </a:p>
          <a:p>
            <a:pPr marL="0" indent="0">
              <a:buNone/>
            </a:pPr>
            <a:r>
              <a:rPr lang="en-US" dirty="0">
                <a:solidFill>
                  <a:srgbClr val="D8D5FF"/>
                </a:solidFill>
              </a:rPr>
              <a:t>• Métricas de rendimiento y carga</a:t>
            </a:r>
            <a:endParaRPr lang="en-US" dirty="0"/>
          </a:p>
        </p:txBody>
      </p:sp>
      <p:sp>
        <p:nvSpPr>
          <p:cNvPr id="14" name="Shape 12"/>
          <p:cNvSpPr/>
          <p:nvPr/>
        </p:nvSpPr>
        <p:spPr>
          <a:xfrm>
            <a:off x="8092440" y="1261872"/>
            <a:ext cx="3429000" cy="3154680"/>
          </a:xfrm>
          <a:prstGeom prst="roundRect">
            <a:avLst>
              <a:gd name="adj" fmla="val 2319"/>
            </a:avLst>
          </a:prstGeom>
          <a:solidFill>
            <a:srgbClr val="1B144D"/>
          </a:solidFill>
          <a:ln w="12700">
            <a:solidFill>
              <a:srgbClr val="5045A8">
                <a:alpha val="95000"/>
              </a:srgbClr>
            </a:solidFill>
            <a:prstDash val="solid"/>
          </a:ln>
        </p:spPr>
        <p:txBody>
          <a:bodyPr/>
          <a:lstStyle/>
          <a:p>
            <a:endParaRPr lang="es-ES"/>
          </a:p>
        </p:txBody>
      </p:sp>
      <p:sp>
        <p:nvSpPr>
          <p:cNvPr id="15" name="Text 13"/>
          <p:cNvSpPr/>
          <p:nvPr/>
        </p:nvSpPr>
        <p:spPr>
          <a:xfrm>
            <a:off x="8293608" y="1463040"/>
            <a:ext cx="3026664" cy="329184"/>
          </a:xfrm>
          <a:prstGeom prst="rect">
            <a:avLst/>
          </a:prstGeom>
          <a:noFill/>
          <a:ln/>
        </p:spPr>
        <p:txBody>
          <a:bodyPr wrap="square" lIns="0" tIns="0" rIns="0" bIns="0" rtlCol="0" anchor="ctr"/>
          <a:lstStyle/>
          <a:p>
            <a:pPr marL="0" indent="0">
              <a:buNone/>
            </a:pPr>
            <a:r>
              <a:rPr lang="en-US" b="1" dirty="0">
                <a:solidFill>
                  <a:srgbClr val="FFFFFF"/>
                </a:solidFill>
                <a:latin typeface="Aptos Display" pitchFamily="34" charset="0"/>
                <a:ea typeface="Aptos Display" pitchFamily="34" charset="-122"/>
                <a:cs typeface="Aptos Display" pitchFamily="34" charset="-120"/>
              </a:rPr>
              <a:t>Cierre técnico</a:t>
            </a:r>
            <a:endParaRPr lang="en-US" dirty="0"/>
          </a:p>
        </p:txBody>
      </p:sp>
      <p:sp>
        <p:nvSpPr>
          <p:cNvPr id="16" name="Text 14"/>
          <p:cNvSpPr/>
          <p:nvPr/>
        </p:nvSpPr>
        <p:spPr>
          <a:xfrm>
            <a:off x="8293608" y="1865376"/>
            <a:ext cx="3026664" cy="2386584"/>
          </a:xfrm>
          <a:prstGeom prst="rect">
            <a:avLst/>
          </a:prstGeom>
          <a:noFill/>
          <a:ln/>
        </p:spPr>
        <p:txBody>
          <a:bodyPr wrap="square" lIns="254" tIns="254" rIns="254" bIns="254" rtlCol="0" anchor="t">
            <a:normAutofit/>
          </a:bodyPr>
          <a:lstStyle/>
          <a:p>
            <a:pPr marL="0" indent="0">
              <a:buNone/>
            </a:pPr>
            <a:r>
              <a:rPr lang="en-US" dirty="0">
                <a:solidFill>
                  <a:srgbClr val="D8D5FF"/>
                </a:solidFill>
              </a:rPr>
              <a:t>CampusConnect 360 demuestra una solución modular, desacoplada y orientada a eventos, donde cada dominio conserva independencia y coopera mediante integración controlada.</a:t>
            </a:r>
            <a:endParaRPr lang="en-US" dirty="0"/>
          </a:p>
        </p:txBody>
      </p:sp>
      <p:sp>
        <p:nvSpPr>
          <p:cNvPr id="21" name="Text 19"/>
          <p:cNvSpPr/>
          <p:nvPr/>
        </p:nvSpPr>
        <p:spPr>
          <a:xfrm>
            <a:off x="502920" y="6547104"/>
            <a:ext cx="5303520" cy="164592"/>
          </a:xfrm>
          <a:prstGeom prst="rect">
            <a:avLst/>
          </a:prstGeom>
          <a:noFill/>
          <a:ln/>
        </p:spPr>
        <p:txBody>
          <a:bodyPr wrap="square" lIns="0" tIns="0" rIns="0" bIns="0" rtlCol="0" anchor="ctr"/>
          <a:lstStyle/>
          <a:p>
            <a:pPr marL="0" indent="0">
              <a:buNone/>
            </a:pPr>
            <a:r>
              <a:rPr lang="en-US" dirty="0">
                <a:solidFill>
                  <a:srgbClr val="8A84BC"/>
                </a:solidFill>
              </a:rPr>
              <a:t>CampusConnect 360 | Defensa técnica</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5E34B3053CC144BA47AB3B5E82C643D" ma:contentTypeVersion="15" ma:contentTypeDescription="Create a new document." ma:contentTypeScope="" ma:versionID="aee0e52dc908018b581757c2b4aef3dd">
  <xsd:schema xmlns:xsd="http://www.w3.org/2001/XMLSchema" xmlns:xs="http://www.w3.org/2001/XMLSchema" xmlns:p="http://schemas.microsoft.com/office/2006/metadata/properties" xmlns:ns3="2cfa3cf1-61ad-4b4e-8f5c-abfa18cbf850" xmlns:ns4="8ea27903-56f4-4ecc-82c1-a6ba62f1158c" targetNamespace="http://schemas.microsoft.com/office/2006/metadata/properties" ma:root="true" ma:fieldsID="f6b8ae9d267f742c2e6a888af4e99495" ns3:_="" ns4:_="">
    <xsd:import namespace="2cfa3cf1-61ad-4b4e-8f5c-abfa18cbf850"/>
    <xsd:import namespace="8ea27903-56f4-4ecc-82c1-a6ba62f1158c"/>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fa3cf1-61ad-4b4e-8f5c-abfa18cbf850"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a27903-56f4-4ecc-82c1-a6ba62f1158c"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cfa3cf1-61ad-4b4e-8f5c-abfa18cbf850" xsi:nil="true"/>
  </documentManagement>
</p:properties>
</file>

<file path=customXml/itemProps1.xml><?xml version="1.0" encoding="utf-8"?>
<ds:datastoreItem xmlns:ds="http://schemas.openxmlformats.org/officeDocument/2006/customXml" ds:itemID="{F4DE233E-019E-4ED6-920A-E2059D5B0E9A}">
  <ds:schemaRefs>
    <ds:schemaRef ds:uri="http://schemas.microsoft.com/sharepoint/v3/contenttype/forms"/>
  </ds:schemaRefs>
</ds:datastoreItem>
</file>

<file path=customXml/itemProps2.xml><?xml version="1.0" encoding="utf-8"?>
<ds:datastoreItem xmlns:ds="http://schemas.openxmlformats.org/officeDocument/2006/customXml" ds:itemID="{2599215E-FBD1-44B1-8577-BBA657AE39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fa3cf1-61ad-4b4e-8f5c-abfa18cbf850"/>
    <ds:schemaRef ds:uri="8ea27903-56f4-4ecc-82c1-a6ba62f115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8842DC-E494-40F0-AC2B-262243A1784B}">
  <ds:schemaRefs>
    <ds:schemaRef ds:uri="2cfa3cf1-61ad-4b4e-8f5c-abfa18cbf850"/>
    <ds:schemaRef ds:uri="http://schemas.microsoft.com/office/2006/documentManagement/types"/>
    <ds:schemaRef ds:uri="http://www.w3.org/XML/1998/namespace"/>
    <ds:schemaRef ds:uri="http://schemas.microsoft.com/office/2006/metadata/properties"/>
    <ds:schemaRef ds:uri="http://purl.org/dc/terms/"/>
    <ds:schemaRef ds:uri="8ea27903-56f4-4ecc-82c1-a6ba62f1158c"/>
    <ds:schemaRef ds:uri="http://purl.org/dc/dcmitype/"/>
    <ds:schemaRef ds:uri="http://schemas.microsoft.com/office/infopath/2007/PartnerControls"/>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12</TotalTime>
  <Words>1491</Words>
  <Application>Microsoft Office PowerPoint</Application>
  <PresentationFormat>Panorámica</PresentationFormat>
  <Paragraphs>201</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Aptos Display</vt:lpstr>
      <vt:lpstr>Aptos Mono</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ChatGPT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CampusConnect 360 - Presentación de defensa</dc:title>
  <dc:subject>CampusConnect 360 - Defensa alineada a rúbrica</dc:subject>
  <dc:creator>OpenAI</dc:creator>
  <cp:lastModifiedBy>(Estudiante) Amable Sebastian Quishpe Coyago</cp:lastModifiedBy>
  <cp:revision>2</cp:revision>
  <dcterms:created xsi:type="dcterms:W3CDTF">2026-07-17T00:59:41Z</dcterms:created>
  <dcterms:modified xsi:type="dcterms:W3CDTF">2026-07-17T01:19:42Z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0x01010055E34B3053CC144BA47AB3B5E82C643D</vt:lpwstr>
  </property>
</Properties>
</file>